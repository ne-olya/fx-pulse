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</p:sldIdLst>
  <p:notesMasterIdLst>
    <p:notesMasterId r:id="rId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notesMaster" Target="notesMasters/notesMaster1.xml"/><Relationship Id="rId8" Type="http://schemas.openxmlformats.org/officeDocument/2006/relationships/presProps" Target="presProps.xml"/><Relationship Id="rId9" Type="http://schemas.openxmlformats.org/officeDocument/2006/relationships/viewProps" Target="viewProps.xml"/><Relationship Id="rId10" Type="http://schemas.openxmlformats.org/officeDocument/2006/relationships/theme" Target="theme/theme1.xml"/><Relationship Id="rId1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6C2B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 rot="-300000">
            <a:off x="502920" y="411480"/>
            <a:ext cx="2029968" cy="680314"/>
          </a:xfrm>
          <a:prstGeom prst="rect">
            <a:avLst/>
          </a:prstGeom>
          <a:solidFill>
            <a:srgbClr val="EF3124"/>
          </a:solidFill>
          <a:ln/>
        </p:spPr>
      </p:sp>
      <p:sp>
        <p:nvSpPr>
          <p:cNvPr id="3" name="Text 1"/>
          <p:cNvSpPr txBox="1"/>
          <p:nvPr/>
        </p:nvSpPr>
        <p:spPr>
          <a:xfrm rot="-300000">
            <a:off x="502920" y="433426"/>
            <a:ext cx="202996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6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АЛЬФА</a:t>
            </a:r>
            <a:endParaRPr lang="en-US" sz="1560" dirty="0"/>
          </a:p>
        </p:txBody>
      </p:sp>
      <p:sp>
        <p:nvSpPr>
          <p:cNvPr id="4" name="Text 2"/>
          <p:cNvSpPr txBox="1"/>
          <p:nvPr/>
        </p:nvSpPr>
        <p:spPr>
          <a:xfrm rot="-300000">
            <a:off x="502920" y="729691"/>
            <a:ext cx="202996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6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БУДУЩЕЕ</a:t>
            </a:r>
            <a:endParaRPr lang="en-US" sz="1560" dirty="0"/>
          </a:p>
        </p:txBody>
      </p:sp>
      <p:sp>
        <p:nvSpPr>
          <p:cNvPr id="5" name="Shape 3"/>
          <p:cNvSpPr/>
          <p:nvPr/>
        </p:nvSpPr>
        <p:spPr>
          <a:xfrm>
            <a:off x="9814255" y="457200"/>
            <a:ext cx="1828800" cy="502920"/>
          </a:xfrm>
          <a:prstGeom prst="roundRect">
            <a:avLst>
              <a:gd name="adj" fmla="val 49091"/>
            </a:avLst>
          </a:prstGeom>
          <a:solidFill>
            <a:srgbClr val="EF3124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9814255" y="457200"/>
            <a:ext cx="1828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Альфа Банк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2286000"/>
            <a:ext cx="1088136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4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Триггерная модель</a:t>
            </a:r>
            <a:endParaRPr lang="en-US" sz="48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4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для трансграничных переводов</a:t>
            </a:r>
            <a:endParaRPr lang="en-US" sz="4800" dirty="0"/>
          </a:p>
        </p:txBody>
      </p:sp>
      <p:sp>
        <p:nvSpPr>
          <p:cNvPr id="8" name="Text 6"/>
          <p:cNvSpPr txBox="1"/>
          <p:nvPr/>
        </p:nvSpPr>
        <p:spPr>
          <a:xfrm>
            <a:off x="658368" y="4297680"/>
            <a:ext cx="10881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E4D8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Когда подсказать клиенту момент для перевода домой</a:t>
            </a:r>
            <a:endParaRPr lang="en-US" sz="3000" dirty="0"/>
          </a:p>
        </p:txBody>
      </p:sp>
      <p:sp>
        <p:nvSpPr>
          <p:cNvPr id="9" name="Shape 7"/>
          <p:cNvSpPr/>
          <p:nvPr/>
        </p:nvSpPr>
        <p:spPr>
          <a:xfrm>
            <a:off x="640080" y="5257800"/>
            <a:ext cx="4754880" cy="566928"/>
          </a:xfrm>
          <a:prstGeom prst="roundRect">
            <a:avLst>
              <a:gd name="adj" fmla="val 22581"/>
            </a:avLst>
          </a:prstGeom>
          <a:solidFill>
            <a:srgbClr val="C3F53C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640080" y="5257800"/>
            <a:ext cx="47548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Коридор RUB → UZS</a:t>
            </a:r>
            <a:endParaRPr lang="en-US" sz="3000" dirty="0"/>
          </a:p>
        </p:txBody>
      </p:sp>
      <p:sp>
        <p:nvSpPr>
          <p:cNvPr id="11" name="Text 9"/>
          <p:cNvSpPr txBox="1"/>
          <p:nvPr/>
        </p:nvSpPr>
        <p:spPr>
          <a:xfrm>
            <a:off x="5669280" y="5321808"/>
            <a:ext cx="5943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dirty="0">
                <a:solidFill>
                  <a:srgbClr val="C9B4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Сырых Ольга · Бикинеев Амир · Немкин Кирилл</a:t>
            </a:r>
            <a:endParaRPr lang="en-US" sz="2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EBEBE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 rot="-300000">
            <a:off x="10317175" y="219456"/>
            <a:ext cx="1353312" cy="453542"/>
          </a:xfrm>
          <a:prstGeom prst="rect">
            <a:avLst/>
          </a:prstGeom>
          <a:solidFill>
            <a:srgbClr val="EF3124"/>
          </a:solidFill>
          <a:ln/>
        </p:spPr>
      </p:sp>
      <p:sp>
        <p:nvSpPr>
          <p:cNvPr id="3" name="Text 1"/>
          <p:cNvSpPr txBox="1"/>
          <p:nvPr/>
        </p:nvSpPr>
        <p:spPr>
          <a:xfrm rot="-300000">
            <a:off x="10317175" y="234086"/>
            <a:ext cx="135331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4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АЛЬФА</a:t>
            </a:r>
            <a:endParaRPr lang="en-US" sz="1040" dirty="0"/>
          </a:p>
        </p:txBody>
      </p:sp>
      <p:sp>
        <p:nvSpPr>
          <p:cNvPr id="4" name="Text 2"/>
          <p:cNvSpPr txBox="1"/>
          <p:nvPr/>
        </p:nvSpPr>
        <p:spPr>
          <a:xfrm rot="-300000">
            <a:off x="10317175" y="431597"/>
            <a:ext cx="135331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4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БУДУЩЕЕ</a:t>
            </a:r>
            <a:endParaRPr lang="en-US" sz="104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256032"/>
            <a:ext cx="9601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F3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Проблема</a:t>
            </a:r>
            <a:pPr indent="0" marL="0">
              <a:buNone/>
            </a:pPr>
            <a:r>
              <a:rPr lang="en-US" sz="34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и кто с ней живёт</a:t>
            </a:r>
            <a:endParaRPr lang="en-US" sz="3400" dirty="0"/>
          </a:p>
        </p:txBody>
      </p:sp>
      <p:sp>
        <p:nvSpPr>
          <p:cNvPr id="6" name="Shape 4"/>
          <p:cNvSpPr/>
          <p:nvPr/>
        </p:nvSpPr>
        <p:spPr>
          <a:xfrm>
            <a:off x="457200" y="1097280"/>
            <a:ext cx="5532120" cy="224028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12700" dir="5400000">
              <a:srgbClr val="9A9A9A">
                <a:alpha val="18000"/>
              </a:srgbClr>
            </a:outerShdw>
          </a:effectLst>
        </p:spPr>
      </p:sp>
      <p:sp>
        <p:nvSpPr>
          <p:cNvPr id="7" name="Text 5"/>
          <p:cNvSpPr txBox="1"/>
          <p:nvPr/>
        </p:nvSpPr>
        <p:spPr>
          <a:xfrm>
            <a:off x="731520" y="1225296"/>
            <a:ext cx="4983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3000" b="1" dirty="0">
                <a:solidFill>
                  <a:srgbClr val="EF3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Наш клиент</a:t>
            </a:r>
            <a:endParaRPr lang="en-US" sz="3000" dirty="0"/>
          </a:p>
        </p:txBody>
      </p:sp>
      <p:sp>
        <p:nvSpPr>
          <p:cNvPr id="8" name="Text 6"/>
          <p:cNvSpPr txBox="1"/>
          <p:nvPr/>
        </p:nvSpPr>
        <p:spPr>
          <a:xfrm>
            <a:off x="731520" y="1737360"/>
            <a:ext cx="49834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3000" dirty="0">
                <a:solidFill>
                  <a:srgbClr val="3A3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Работает в Москве,</a:t>
            </a:r>
            <a:endParaRPr lang="en-US" sz="3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3000" dirty="0">
                <a:solidFill>
                  <a:srgbClr val="3A3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шлёт домой раз в месяц</a:t>
            </a:r>
            <a:endParaRPr lang="en-US" sz="3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3000" dirty="0">
                <a:solidFill>
                  <a:srgbClr val="3A3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после расчёта</a:t>
            </a:r>
            <a:endParaRPr lang="en-US" sz="3000" dirty="0"/>
          </a:p>
        </p:txBody>
      </p:sp>
      <p:sp>
        <p:nvSpPr>
          <p:cNvPr id="9" name="Shape 7"/>
          <p:cNvSpPr/>
          <p:nvPr/>
        </p:nvSpPr>
        <p:spPr>
          <a:xfrm>
            <a:off x="6199632" y="1097280"/>
            <a:ext cx="5532120" cy="224028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12700" dir="5400000">
              <a:srgbClr val="9A9A9A">
                <a:alpha val="18000"/>
              </a:srgbClr>
            </a:outerShdw>
          </a:effectLst>
        </p:spPr>
      </p:sp>
      <p:sp>
        <p:nvSpPr>
          <p:cNvPr id="10" name="Text 8"/>
          <p:cNvSpPr txBox="1"/>
          <p:nvPr/>
        </p:nvSpPr>
        <p:spPr>
          <a:xfrm>
            <a:off x="6473952" y="1225296"/>
            <a:ext cx="4983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3000" b="1" dirty="0">
                <a:solidFill>
                  <a:srgbClr val="EF3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Чего он не видит</a:t>
            </a:r>
            <a:endParaRPr lang="en-US" sz="3000" dirty="0"/>
          </a:p>
        </p:txBody>
      </p:sp>
      <p:sp>
        <p:nvSpPr>
          <p:cNvPr id="11" name="Text 9"/>
          <p:cNvSpPr txBox="1"/>
          <p:nvPr/>
        </p:nvSpPr>
        <p:spPr>
          <a:xfrm>
            <a:off x="6473952" y="1737360"/>
            <a:ext cx="49834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3000" dirty="0">
                <a:solidFill>
                  <a:srgbClr val="3A3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Сколько дойдёт домой.</a:t>
            </a:r>
            <a:endParaRPr lang="en-US" sz="3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3000" dirty="0">
                <a:solidFill>
                  <a:srgbClr val="3A3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 переводе по телефону</a:t>
            </a:r>
            <a:endParaRPr lang="en-US" sz="3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3000" dirty="0">
                <a:solidFill>
                  <a:srgbClr val="3A3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курса нет вообще</a:t>
            </a:r>
            <a:endParaRPr lang="en-US" sz="3000" dirty="0"/>
          </a:p>
        </p:txBody>
      </p:sp>
      <p:sp>
        <p:nvSpPr>
          <p:cNvPr id="12" name="Shape 10"/>
          <p:cNvSpPr/>
          <p:nvPr/>
        </p:nvSpPr>
        <p:spPr>
          <a:xfrm>
            <a:off x="457200" y="3474720"/>
            <a:ext cx="11274552" cy="1371600"/>
          </a:xfrm>
          <a:prstGeom prst="roundRect">
            <a:avLst>
              <a:gd name="adj" fmla="val 9333"/>
            </a:avLst>
          </a:prstGeom>
          <a:solidFill>
            <a:srgbClr val="FDEAE8"/>
          </a:solidFill>
          <a:ln/>
          <a:effectLst>
            <a:outerShdw sx="100000" sy="100000" kx="0" ky="0" algn="bl" rotWithShape="0" blurRad="101600" dist="12700" dir="5400000">
              <a:srgbClr val="9A9A9A">
                <a:alpha val="18000"/>
              </a:srgbClr>
            </a:outerShdw>
          </a:effectLst>
        </p:spPr>
      </p:sp>
      <p:sp>
        <p:nvSpPr>
          <p:cNvPr id="13" name="Text 11"/>
          <p:cNvSpPr txBox="1"/>
          <p:nvPr/>
        </p:nvSpPr>
        <p:spPr>
          <a:xfrm>
            <a:off x="777240" y="3602736"/>
            <a:ext cx="2743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EF3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4,87 %</a:t>
            </a:r>
            <a:endParaRPr lang="en-US" sz="4400" dirty="0"/>
          </a:p>
        </p:txBody>
      </p:sp>
      <p:sp>
        <p:nvSpPr>
          <p:cNvPr id="14" name="Text 12"/>
          <p:cNvSpPr txBox="1"/>
          <p:nvPr/>
        </p:nvSpPr>
        <p:spPr>
          <a:xfrm>
            <a:off x="3657600" y="3639312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30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столько курс ходит за месяц.</a:t>
            </a:r>
            <a:endParaRPr lang="en-US" sz="3000" dirty="0"/>
          </a:p>
        </p:txBody>
      </p:sp>
      <p:sp>
        <p:nvSpPr>
          <p:cNvPr id="15" name="Text 13"/>
          <p:cNvSpPr txBox="1"/>
          <p:nvPr/>
        </p:nvSpPr>
        <p:spPr>
          <a:xfrm>
            <a:off x="3657600" y="4096512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3000" dirty="0">
                <a:solidFill>
                  <a:srgbClr val="3A3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Клиент выбирает день вслепую</a:t>
            </a:r>
            <a:endParaRPr lang="en-US" sz="3000" dirty="0"/>
          </a:p>
        </p:txBody>
      </p:sp>
      <p:sp>
        <p:nvSpPr>
          <p:cNvPr id="16" name="Shape 14"/>
          <p:cNvSpPr/>
          <p:nvPr/>
        </p:nvSpPr>
        <p:spPr>
          <a:xfrm>
            <a:off x="457200" y="4983480"/>
            <a:ext cx="11274552" cy="13716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12700" dir="5400000">
              <a:srgbClr val="9A9A9A">
                <a:alpha val="18000"/>
              </a:srgbClr>
            </a:outerShdw>
          </a:effectLst>
        </p:spPr>
      </p:sp>
      <p:sp>
        <p:nvSpPr>
          <p:cNvPr id="17" name="Text 15"/>
          <p:cNvSpPr txBox="1"/>
          <p:nvPr/>
        </p:nvSpPr>
        <p:spPr>
          <a:xfrm>
            <a:off x="777240" y="5120640"/>
            <a:ext cx="10607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3000" dirty="0">
                <a:solidFill>
                  <a:srgbClr val="3A3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Wise и Xe шлют алерт, когда курс дошёл до цели</a:t>
            </a:r>
            <a:endParaRPr lang="en-US" sz="3000" dirty="0"/>
          </a:p>
        </p:txBody>
      </p:sp>
      <p:sp>
        <p:nvSpPr>
          <p:cNvPr id="18" name="Text 16"/>
          <p:cNvSpPr txBox="1"/>
          <p:nvPr/>
        </p:nvSpPr>
        <p:spPr>
          <a:xfrm>
            <a:off x="777240" y="5623560"/>
            <a:ext cx="10607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30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Цель ставит клиент. За него момент не выбирает никто</a:t>
            </a:r>
            <a:endParaRPr lang="en-US" sz="3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EBEBE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 rot="-300000">
            <a:off x="10317175" y="219456"/>
            <a:ext cx="1353312" cy="453542"/>
          </a:xfrm>
          <a:prstGeom prst="rect">
            <a:avLst/>
          </a:prstGeom>
          <a:solidFill>
            <a:srgbClr val="EF3124"/>
          </a:solidFill>
          <a:ln/>
        </p:spPr>
      </p:sp>
      <p:sp>
        <p:nvSpPr>
          <p:cNvPr id="3" name="Text 1"/>
          <p:cNvSpPr txBox="1"/>
          <p:nvPr/>
        </p:nvSpPr>
        <p:spPr>
          <a:xfrm rot="-300000">
            <a:off x="10317175" y="234086"/>
            <a:ext cx="135331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4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АЛЬФА</a:t>
            </a:r>
            <a:endParaRPr lang="en-US" sz="1040" dirty="0"/>
          </a:p>
        </p:txBody>
      </p:sp>
      <p:sp>
        <p:nvSpPr>
          <p:cNvPr id="4" name="Text 2"/>
          <p:cNvSpPr txBox="1"/>
          <p:nvPr/>
        </p:nvSpPr>
        <p:spPr>
          <a:xfrm rot="-300000">
            <a:off x="10317175" y="431597"/>
            <a:ext cx="135331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4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БУДУЩЕЕ</a:t>
            </a:r>
            <a:endParaRPr lang="en-US" sz="104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256032"/>
            <a:ext cx="9601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F3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Какой коридор</a:t>
            </a:r>
            <a:pPr indent="0" marL="0">
              <a:buNone/>
            </a:pPr>
            <a:r>
              <a:rPr lang="en-US" sz="34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и почему</a:t>
            </a:r>
            <a:endParaRPr lang="en-US" sz="34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97280"/>
          <a:ext cx="11274552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1463040"/>
                <a:gridCol w="2194560"/>
                <a:gridCol w="2560320"/>
                <a:gridCol w="2313432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3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Коридор</a:t>
                      </a:r>
                      <a:endParaRPr lang="en-US" sz="3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3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Lift</a:t>
                      </a:r>
                      <a:endParaRPr lang="en-US" sz="3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3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Сигналов</a:t>
                      </a:r>
                      <a:endParaRPr lang="en-US" sz="3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3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На перевод</a:t>
                      </a:r>
                      <a:endParaRPr lang="en-US" sz="3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3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За год</a:t>
                      </a:r>
                      <a:endParaRPr lang="en-US" sz="3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3000" b="1" dirty="0">
                          <a:solidFill>
                            <a:srgbClr val="11111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Узбекистан</a:t>
                      </a:r>
                      <a:endParaRPr lang="en-US" sz="3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3F53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3000" b="1" dirty="0">
                          <a:solidFill>
                            <a:srgbClr val="11111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1,25</a:t>
                      </a:r>
                      <a:endParaRPr lang="en-US" sz="3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3F53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3000" b="1" dirty="0">
                          <a:solidFill>
                            <a:srgbClr val="11111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0,61</a:t>
                      </a:r>
                      <a:endParaRPr lang="en-US" sz="3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3F53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3000" b="1" dirty="0">
                          <a:solidFill>
                            <a:srgbClr val="11111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117 ₽</a:t>
                      </a:r>
                      <a:endParaRPr lang="en-US" sz="3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3F53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3000" b="1" dirty="0">
                          <a:solidFill>
                            <a:srgbClr val="11111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1 053 ₽</a:t>
                      </a:r>
                      <a:endParaRPr lang="en-US" sz="3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3F53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3000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Таджикистан</a:t>
                      </a:r>
                      <a:endParaRPr lang="en-US" sz="3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3000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1,24</a:t>
                      </a:r>
                      <a:endParaRPr lang="en-US" sz="3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3000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1,14</a:t>
                      </a:r>
                      <a:endParaRPr lang="en-US" sz="3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3000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46 ₽</a:t>
                      </a:r>
                      <a:endParaRPr lang="en-US" sz="3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3000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416 ₽</a:t>
                      </a:r>
                      <a:endParaRPr lang="en-US" sz="3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3000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Армения</a:t>
                      </a:r>
                      <a:endParaRPr lang="en-US" sz="3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3000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1,24</a:t>
                      </a:r>
                      <a:endParaRPr lang="en-US" sz="3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3000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1,11</a:t>
                      </a:r>
                      <a:endParaRPr lang="en-US" sz="3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3000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50 ₽</a:t>
                      </a:r>
                      <a:endParaRPr lang="en-US" sz="3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3000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450 ₽</a:t>
                      </a:r>
                      <a:endParaRPr lang="en-US" sz="3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3000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Киргизия</a:t>
                      </a:r>
                      <a:endParaRPr lang="en-US" sz="3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3000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1,20</a:t>
                      </a:r>
                      <a:endParaRPr lang="en-US" sz="3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3000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1,11</a:t>
                      </a:r>
                      <a:endParaRPr lang="en-US" sz="3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3000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38 ₽</a:t>
                      </a:r>
                      <a:endParaRPr lang="en-US" sz="3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3000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341 ₽</a:t>
                      </a:r>
                      <a:endParaRPr lang="en-US" sz="3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3000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Казахстан</a:t>
                      </a:r>
                      <a:endParaRPr lang="en-US" sz="3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3000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1,13</a:t>
                      </a:r>
                      <a:endParaRPr lang="en-US" sz="3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3000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1,11</a:t>
                      </a:r>
                      <a:endParaRPr lang="en-US" sz="3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3000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 ₽</a:t>
                      </a:r>
                      <a:endParaRPr lang="en-US" sz="3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3000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153 ₽</a:t>
                      </a:r>
                      <a:endParaRPr lang="en-US" sz="3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Shape 4"/>
          <p:cNvSpPr/>
          <p:nvPr/>
        </p:nvSpPr>
        <p:spPr>
          <a:xfrm>
            <a:off x="457200" y="4617720"/>
            <a:ext cx="5532120" cy="1737360"/>
          </a:xfrm>
          <a:prstGeom prst="roundRect">
            <a:avLst>
              <a:gd name="adj" fmla="val 736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12700" dir="5400000">
              <a:srgbClr val="9A9A9A">
                <a:alpha val="18000"/>
              </a:srgbClr>
            </a:outerShdw>
          </a:effectLst>
        </p:spPr>
      </p:sp>
      <p:sp>
        <p:nvSpPr>
          <p:cNvPr id="8" name="Text 5"/>
          <p:cNvSpPr txBox="1"/>
          <p:nvPr/>
        </p:nvSpPr>
        <p:spPr>
          <a:xfrm>
            <a:off x="731520" y="4736592"/>
            <a:ext cx="4983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3000" b="1" dirty="0">
                <a:solidFill>
                  <a:srgbClr val="EF3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Взяли Узбекистан</a:t>
            </a:r>
            <a:endParaRPr lang="en-US" sz="3000" dirty="0"/>
          </a:p>
        </p:txBody>
      </p:sp>
      <p:sp>
        <p:nvSpPr>
          <p:cNvPr id="9" name="Text 6"/>
          <p:cNvSpPr txBox="1"/>
          <p:nvPr/>
        </p:nvSpPr>
        <p:spPr>
          <a:xfrm>
            <a:off x="731520" y="5230368"/>
            <a:ext cx="4983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3000" dirty="0">
                <a:solidFill>
                  <a:srgbClr val="3A3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Лучшая модель, вдвое</a:t>
            </a:r>
            <a:endParaRPr lang="en-US" sz="3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3000" dirty="0">
                <a:solidFill>
                  <a:srgbClr val="3A3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больше денег клиенту</a:t>
            </a:r>
            <a:endParaRPr lang="en-US" sz="3000" dirty="0"/>
          </a:p>
        </p:txBody>
      </p:sp>
      <p:sp>
        <p:nvSpPr>
          <p:cNvPr id="10" name="Shape 7"/>
          <p:cNvSpPr/>
          <p:nvPr/>
        </p:nvSpPr>
        <p:spPr>
          <a:xfrm>
            <a:off x="6199632" y="4617720"/>
            <a:ext cx="5532120" cy="1737360"/>
          </a:xfrm>
          <a:prstGeom prst="roundRect">
            <a:avLst>
              <a:gd name="adj" fmla="val 7368"/>
            </a:avLst>
          </a:prstGeom>
          <a:solidFill>
            <a:srgbClr val="FDEAE8"/>
          </a:solidFill>
          <a:ln/>
          <a:effectLst>
            <a:outerShdw sx="100000" sy="100000" kx="0" ky="0" algn="bl" rotWithShape="0" blurRad="101600" dist="12700" dir="5400000">
              <a:srgbClr val="9A9A9A">
                <a:alpha val="18000"/>
              </a:srgbClr>
            </a:outerShdw>
          </a:effectLst>
        </p:spPr>
      </p:sp>
      <p:sp>
        <p:nvSpPr>
          <p:cNvPr id="11" name="Text 8"/>
          <p:cNvSpPr txBox="1"/>
          <p:nvPr/>
        </p:nvSpPr>
        <p:spPr>
          <a:xfrm>
            <a:off x="6473952" y="4736592"/>
            <a:ext cx="4983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3000" b="1" dirty="0">
                <a:solidFill>
                  <a:srgbClr val="EF3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Чем платим</a:t>
            </a:r>
            <a:endParaRPr lang="en-US" sz="3000" dirty="0"/>
          </a:p>
        </p:txBody>
      </p:sp>
      <p:sp>
        <p:nvSpPr>
          <p:cNvPr id="12" name="Text 9"/>
          <p:cNvSpPr txBox="1"/>
          <p:nvPr/>
        </p:nvSpPr>
        <p:spPr>
          <a:xfrm>
            <a:off x="6473952" y="5230368"/>
            <a:ext cx="4983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3000" dirty="0">
                <a:solidFill>
                  <a:srgbClr val="3A3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0,61 сигнала в неделю</a:t>
            </a:r>
            <a:endParaRPr lang="en-US" sz="3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3000" dirty="0">
                <a:solidFill>
                  <a:srgbClr val="3A3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вместо 1–2</a:t>
            </a:r>
            <a:endParaRPr lang="en-US" sz="3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EBEBE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 rot="-300000">
            <a:off x="10317175" y="219456"/>
            <a:ext cx="1353312" cy="453542"/>
          </a:xfrm>
          <a:prstGeom prst="rect">
            <a:avLst/>
          </a:prstGeom>
          <a:solidFill>
            <a:srgbClr val="EF3124"/>
          </a:solidFill>
          <a:ln/>
        </p:spPr>
      </p:sp>
      <p:sp>
        <p:nvSpPr>
          <p:cNvPr id="3" name="Text 1"/>
          <p:cNvSpPr txBox="1"/>
          <p:nvPr/>
        </p:nvSpPr>
        <p:spPr>
          <a:xfrm rot="-300000">
            <a:off x="10317175" y="234086"/>
            <a:ext cx="135331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4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АЛЬФА</a:t>
            </a:r>
            <a:endParaRPr lang="en-US" sz="1040" dirty="0"/>
          </a:p>
        </p:txBody>
      </p:sp>
      <p:sp>
        <p:nvSpPr>
          <p:cNvPr id="4" name="Text 2"/>
          <p:cNvSpPr txBox="1"/>
          <p:nvPr/>
        </p:nvSpPr>
        <p:spPr>
          <a:xfrm rot="-300000">
            <a:off x="10317175" y="431597"/>
            <a:ext cx="135331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4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БУДУЩЕЕ</a:t>
            </a:r>
            <a:endParaRPr lang="en-US" sz="104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256032"/>
            <a:ext cx="9601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F3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Как это</a:t>
            </a:r>
            <a:pPr indent="0" marL="0">
              <a:buNone/>
            </a:pPr>
            <a:r>
              <a:rPr lang="en-US" sz="34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устроено</a:t>
            </a:r>
            <a:endParaRPr lang="en-US" sz="3400" dirty="0"/>
          </a:p>
        </p:txBody>
      </p:sp>
      <p:sp>
        <p:nvSpPr>
          <p:cNvPr id="6" name="Shape 4"/>
          <p:cNvSpPr/>
          <p:nvPr/>
        </p:nvSpPr>
        <p:spPr>
          <a:xfrm>
            <a:off x="457200" y="1097280"/>
            <a:ext cx="3703320" cy="2514600"/>
          </a:xfrm>
          <a:prstGeom prst="roundRect">
            <a:avLst>
              <a:gd name="adj" fmla="val 509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12700" dir="5400000">
              <a:srgbClr val="9A9A9A">
                <a:alpha val="18000"/>
              </a:srgbClr>
            </a:outerShdw>
          </a:effectLst>
        </p:spPr>
      </p:sp>
      <p:sp>
        <p:nvSpPr>
          <p:cNvPr id="7" name="Text 5"/>
          <p:cNvSpPr txBox="1"/>
          <p:nvPr/>
        </p:nvSpPr>
        <p:spPr>
          <a:xfrm>
            <a:off x="713232" y="1225296"/>
            <a:ext cx="3200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3000" b="1" dirty="0">
                <a:solidFill>
                  <a:srgbClr val="EF3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Данные</a:t>
            </a:r>
            <a:endParaRPr lang="en-US" sz="3000" dirty="0"/>
          </a:p>
        </p:txBody>
      </p:sp>
      <p:sp>
        <p:nvSpPr>
          <p:cNvPr id="8" name="Text 6"/>
          <p:cNvSpPr txBox="1"/>
          <p:nvPr/>
        </p:nvSpPr>
        <p:spPr>
          <a:xfrm>
            <a:off x="713232" y="1719072"/>
            <a:ext cx="32461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3000" dirty="0">
                <a:solidFill>
                  <a:srgbClr val="3A3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Курсы ЦБ, 8 лет</a:t>
            </a:r>
            <a:endParaRPr lang="en-US" sz="3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3000" dirty="0">
                <a:solidFill>
                  <a:srgbClr val="3A3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Биржа и нацбанки</a:t>
            </a:r>
            <a:endParaRPr lang="en-US" sz="3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3000" dirty="0">
                <a:solidFill>
                  <a:srgbClr val="3A3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Новостной фон</a:t>
            </a:r>
            <a:endParaRPr lang="en-US" sz="3000" dirty="0"/>
          </a:p>
        </p:txBody>
      </p:sp>
      <p:sp>
        <p:nvSpPr>
          <p:cNvPr id="9" name="Shape 7"/>
          <p:cNvSpPr/>
          <p:nvPr/>
        </p:nvSpPr>
        <p:spPr>
          <a:xfrm>
            <a:off x="4370832" y="1097280"/>
            <a:ext cx="3703320" cy="2514600"/>
          </a:xfrm>
          <a:prstGeom prst="roundRect">
            <a:avLst>
              <a:gd name="adj" fmla="val 509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12700" dir="5400000">
              <a:srgbClr val="9A9A9A">
                <a:alpha val="18000"/>
              </a:srgbClr>
            </a:outerShdw>
          </a:effectLst>
        </p:spPr>
      </p:sp>
      <p:sp>
        <p:nvSpPr>
          <p:cNvPr id="10" name="Text 8"/>
          <p:cNvSpPr txBox="1"/>
          <p:nvPr/>
        </p:nvSpPr>
        <p:spPr>
          <a:xfrm>
            <a:off x="4626864" y="1225296"/>
            <a:ext cx="3200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3000" b="1" dirty="0">
                <a:solidFill>
                  <a:srgbClr val="EF3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Модель</a:t>
            </a:r>
            <a:endParaRPr lang="en-US" sz="3000" dirty="0"/>
          </a:p>
        </p:txBody>
      </p:sp>
      <p:sp>
        <p:nvSpPr>
          <p:cNvPr id="11" name="Text 9"/>
          <p:cNvSpPr txBox="1"/>
          <p:nvPr/>
        </p:nvSpPr>
        <p:spPr>
          <a:xfrm>
            <a:off x="4626864" y="1719072"/>
            <a:ext cx="32461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3000" dirty="0">
                <a:solidFill>
                  <a:srgbClr val="3A3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CatBoost</a:t>
            </a:r>
            <a:endParaRPr lang="en-US" sz="3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3000" dirty="0">
                <a:solidFill>
                  <a:srgbClr val="3A3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 торговых дней</a:t>
            </a:r>
            <a:endParaRPr lang="en-US" sz="3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3000" dirty="0">
                <a:solidFill>
                  <a:srgbClr val="3A3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Проверка на пяти</a:t>
            </a:r>
            <a:endParaRPr lang="en-US" sz="3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3000" dirty="0">
                <a:solidFill>
                  <a:srgbClr val="3A3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коридорах</a:t>
            </a:r>
            <a:endParaRPr lang="en-US" sz="3000" dirty="0"/>
          </a:p>
        </p:txBody>
      </p:sp>
      <p:sp>
        <p:nvSpPr>
          <p:cNvPr id="12" name="Shape 10"/>
          <p:cNvSpPr/>
          <p:nvPr/>
        </p:nvSpPr>
        <p:spPr>
          <a:xfrm>
            <a:off x="8284464" y="1097280"/>
            <a:ext cx="3703320" cy="2514600"/>
          </a:xfrm>
          <a:prstGeom prst="roundRect">
            <a:avLst>
              <a:gd name="adj" fmla="val 509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12700" dir="5400000">
              <a:srgbClr val="9A9A9A">
                <a:alpha val="18000"/>
              </a:srgbClr>
            </a:outerShdw>
          </a:effectLst>
        </p:spPr>
      </p:sp>
      <p:sp>
        <p:nvSpPr>
          <p:cNvPr id="13" name="Text 11"/>
          <p:cNvSpPr txBox="1"/>
          <p:nvPr/>
        </p:nvSpPr>
        <p:spPr>
          <a:xfrm>
            <a:off x="8540496" y="1225296"/>
            <a:ext cx="3200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3000" b="1" dirty="0">
                <a:solidFill>
                  <a:srgbClr val="EF3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Метрики</a:t>
            </a:r>
            <a:endParaRPr lang="en-US" sz="3000" dirty="0"/>
          </a:p>
        </p:txBody>
      </p:sp>
      <p:sp>
        <p:nvSpPr>
          <p:cNvPr id="14" name="Text 12"/>
          <p:cNvSpPr txBox="1"/>
          <p:nvPr/>
        </p:nvSpPr>
        <p:spPr>
          <a:xfrm>
            <a:off x="8540496" y="1719072"/>
            <a:ext cx="32461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3000" dirty="0">
                <a:solidFill>
                  <a:srgbClr val="3A3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Угадали 62 из 100</a:t>
            </a:r>
            <a:endParaRPr lang="en-US" sz="3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3000" dirty="0">
                <a:solidFill>
                  <a:srgbClr val="3A3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Lift 1,25</a:t>
            </a:r>
            <a:endParaRPr lang="en-US" sz="3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3000" dirty="0">
                <a:solidFill>
                  <a:srgbClr val="3A3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140 сигналов</a:t>
            </a:r>
            <a:endParaRPr lang="en-US" sz="3000" dirty="0"/>
          </a:p>
        </p:txBody>
      </p:sp>
      <p:sp>
        <p:nvSpPr>
          <p:cNvPr id="15" name="Shape 13"/>
          <p:cNvSpPr/>
          <p:nvPr/>
        </p:nvSpPr>
        <p:spPr>
          <a:xfrm>
            <a:off x="457200" y="3749040"/>
            <a:ext cx="7360920" cy="2788920"/>
          </a:xfrm>
          <a:prstGeom prst="roundRect">
            <a:avLst>
              <a:gd name="adj" fmla="val 4590"/>
            </a:avLst>
          </a:prstGeom>
          <a:solidFill>
            <a:srgbClr val="FDEAE8"/>
          </a:solidFill>
          <a:ln/>
          <a:effectLst>
            <a:outerShdw sx="100000" sy="100000" kx="0" ky="0" algn="bl" rotWithShape="0" blurRad="101600" dist="12700" dir="5400000">
              <a:srgbClr val="9A9A9A">
                <a:alpha val="18000"/>
              </a:srgbClr>
            </a:outerShdw>
          </a:effectLst>
        </p:spPr>
      </p:sp>
      <p:sp>
        <p:nvSpPr>
          <p:cNvPr id="16" name="Text 14"/>
          <p:cNvSpPr txBox="1"/>
          <p:nvPr/>
        </p:nvSpPr>
        <p:spPr>
          <a:xfrm>
            <a:off x="731520" y="3877056"/>
            <a:ext cx="6812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30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Чего решение не умеет</a:t>
            </a:r>
            <a:endParaRPr lang="en-US" sz="3000" dirty="0"/>
          </a:p>
        </p:txBody>
      </p:sp>
      <p:sp>
        <p:nvSpPr>
          <p:cNvPr id="17" name="Text 15"/>
          <p:cNvSpPr txBox="1"/>
          <p:nvPr/>
        </p:nvSpPr>
        <p:spPr>
          <a:xfrm>
            <a:off x="731520" y="4370832"/>
            <a:ext cx="681228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2400" dirty="0">
                <a:solidFill>
                  <a:srgbClr val="3A3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Не ловит лучший день — берёт 26 из 129</a:t>
            </a:r>
            <a:endParaRPr lang="en-US" sz="2400" dirty="0"/>
          </a:p>
          <a:p>
            <a:pPr indent="0" marL="0">
              <a:lnSpc>
                <a:spcPct val="100000"/>
              </a:lnSpc>
              <a:buNone/>
            </a:pPr>
            <a:endParaRPr lang="en-US" sz="24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2400" dirty="0">
                <a:solidFill>
                  <a:srgbClr val="3A3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Пишет реже, чем просит кейс</a:t>
            </a:r>
            <a:endParaRPr lang="en-US" sz="2400" dirty="0"/>
          </a:p>
          <a:p>
            <a:pPr indent="0" marL="0">
              <a:lnSpc>
                <a:spcPct val="100000"/>
              </a:lnSpc>
              <a:buNone/>
            </a:pPr>
            <a:endParaRPr lang="en-US" sz="24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2400" dirty="0">
                <a:solidFill>
                  <a:srgbClr val="3A3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Курс ЦБ — не тот курс, по которому</a:t>
            </a:r>
            <a:endParaRPr lang="en-US" sz="24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2400" dirty="0">
                <a:solidFill>
                  <a:srgbClr val="3A3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клиент реально переводит</a:t>
            </a:r>
            <a:endParaRPr lang="en-US" sz="2400" dirty="0"/>
          </a:p>
        </p:txBody>
      </p:sp>
      <p:sp>
        <p:nvSpPr>
          <p:cNvPr id="18" name="Shape 16"/>
          <p:cNvSpPr/>
          <p:nvPr/>
        </p:nvSpPr>
        <p:spPr>
          <a:xfrm>
            <a:off x="8028432" y="3749040"/>
            <a:ext cx="3703320" cy="2788920"/>
          </a:xfrm>
          <a:prstGeom prst="roundRect">
            <a:avLst>
              <a:gd name="adj" fmla="val 459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12700" dir="5400000">
              <a:srgbClr val="9A9A9A">
                <a:alpha val="18000"/>
              </a:srgbClr>
            </a:outerShdw>
          </a:effectLst>
        </p:spPr>
      </p:sp>
      <p:sp>
        <p:nvSpPr>
          <p:cNvPr id="19" name="Text 17"/>
          <p:cNvSpPr txBox="1"/>
          <p:nvPr/>
        </p:nvSpPr>
        <p:spPr>
          <a:xfrm>
            <a:off x="8284464" y="3877056"/>
            <a:ext cx="3200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3000" b="1" dirty="0">
                <a:solidFill>
                  <a:srgbClr val="EF3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Команда</a:t>
            </a:r>
            <a:endParaRPr lang="en-US" sz="3000" dirty="0"/>
          </a:p>
        </p:txBody>
      </p:sp>
      <p:sp>
        <p:nvSpPr>
          <p:cNvPr id="20" name="Text 18"/>
          <p:cNvSpPr txBox="1"/>
          <p:nvPr/>
        </p:nvSpPr>
        <p:spPr>
          <a:xfrm>
            <a:off x="8284464" y="4407408"/>
            <a:ext cx="32461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2200" dirty="0">
                <a:solidFill>
                  <a:srgbClr val="3A3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Ольга — данные и ML</a:t>
            </a:r>
            <a:endParaRPr lang="en-US" sz="22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2200" dirty="0">
                <a:solidFill>
                  <a:srgbClr val="3A3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Амир — ML</a:t>
            </a:r>
            <a:endParaRPr lang="en-US" sz="22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2200" dirty="0">
                <a:solidFill>
                  <a:srgbClr val="3A3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Кирилл — продукт</a:t>
            </a:r>
            <a:endParaRPr lang="en-US" sz="2200" dirty="0"/>
          </a:p>
        </p:txBody>
      </p:sp>
      <p:sp>
        <p:nvSpPr>
          <p:cNvPr id="21" name="Text 19"/>
          <p:cNvSpPr txBox="1"/>
          <p:nvPr/>
        </p:nvSpPr>
        <p:spPr>
          <a:xfrm>
            <a:off x="8284464" y="5577840"/>
            <a:ext cx="32461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22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Персоны в прогоне:</a:t>
            </a:r>
            <a:endParaRPr lang="en-US" sz="22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22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Азиз, Далер, Армен</a:t>
            </a:r>
            <a:endParaRPr lang="en-US" sz="2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EBEBE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 rot="-300000">
            <a:off x="10317175" y="219456"/>
            <a:ext cx="1353312" cy="453542"/>
          </a:xfrm>
          <a:prstGeom prst="rect">
            <a:avLst/>
          </a:prstGeom>
          <a:solidFill>
            <a:srgbClr val="EF3124"/>
          </a:solidFill>
          <a:ln/>
        </p:spPr>
      </p:sp>
      <p:sp>
        <p:nvSpPr>
          <p:cNvPr id="3" name="Text 1"/>
          <p:cNvSpPr txBox="1"/>
          <p:nvPr/>
        </p:nvSpPr>
        <p:spPr>
          <a:xfrm rot="-300000">
            <a:off x="10317175" y="234086"/>
            <a:ext cx="135331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4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АЛЬФА</a:t>
            </a:r>
            <a:endParaRPr lang="en-US" sz="1040" dirty="0"/>
          </a:p>
        </p:txBody>
      </p:sp>
      <p:sp>
        <p:nvSpPr>
          <p:cNvPr id="4" name="Text 2"/>
          <p:cNvSpPr txBox="1"/>
          <p:nvPr/>
        </p:nvSpPr>
        <p:spPr>
          <a:xfrm rot="-300000">
            <a:off x="10317175" y="431597"/>
            <a:ext cx="135331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4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БУДУЩЕЕ</a:t>
            </a:r>
            <a:endParaRPr lang="en-US" sz="104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256032"/>
            <a:ext cx="9601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F3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Готовность</a:t>
            </a:r>
            <a:pPr indent="0" marL="0">
              <a:buNone/>
            </a:pPr>
            <a:r>
              <a:rPr lang="en-US" sz="34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и следующий шаг</a:t>
            </a:r>
            <a:endParaRPr lang="en-US" sz="3400" dirty="0"/>
          </a:p>
        </p:txBody>
      </p:sp>
      <p:sp>
        <p:nvSpPr>
          <p:cNvPr id="6" name="Shape 4"/>
          <p:cNvSpPr/>
          <p:nvPr/>
        </p:nvSpPr>
        <p:spPr>
          <a:xfrm>
            <a:off x="457200" y="1097280"/>
            <a:ext cx="5532120" cy="2651760"/>
          </a:xfrm>
          <a:prstGeom prst="roundRect">
            <a:avLst>
              <a:gd name="adj" fmla="val 482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12700" dir="5400000">
              <a:srgbClr val="9A9A9A">
                <a:alpha val="18000"/>
              </a:srgbClr>
            </a:outerShdw>
          </a:effectLst>
        </p:spPr>
      </p:sp>
      <p:sp>
        <p:nvSpPr>
          <p:cNvPr id="7" name="Text 5"/>
          <p:cNvSpPr txBox="1"/>
          <p:nvPr/>
        </p:nvSpPr>
        <p:spPr>
          <a:xfrm>
            <a:off x="731520" y="1225296"/>
            <a:ext cx="4983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3000" b="1" dirty="0">
                <a:solidFill>
                  <a:srgbClr val="EF3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Готово</a:t>
            </a:r>
            <a:endParaRPr lang="en-US" sz="3000" dirty="0"/>
          </a:p>
        </p:txBody>
      </p:sp>
      <p:sp>
        <p:nvSpPr>
          <p:cNvPr id="8" name="Text 6"/>
          <p:cNvSpPr txBox="1"/>
          <p:nvPr/>
        </p:nvSpPr>
        <p:spPr>
          <a:xfrm>
            <a:off x="731520" y="1737360"/>
            <a:ext cx="49834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3000" dirty="0">
                <a:solidFill>
                  <a:srgbClr val="3A3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Сигналы и бэктест</a:t>
            </a:r>
            <a:endParaRPr lang="en-US" sz="3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3000" dirty="0">
                <a:solidFill>
                  <a:srgbClr val="3A3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Прототип пути</a:t>
            </a:r>
            <a:endParaRPr lang="en-US" sz="3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3000" dirty="0">
                <a:solidFill>
                  <a:srgbClr val="3A3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Тексты на персонах</a:t>
            </a:r>
            <a:endParaRPr lang="en-US" sz="3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3000" dirty="0">
                <a:solidFill>
                  <a:srgbClr val="3A3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Предзаполнение формы</a:t>
            </a:r>
            <a:endParaRPr lang="en-US" sz="3000" dirty="0"/>
          </a:p>
        </p:txBody>
      </p:sp>
      <p:sp>
        <p:nvSpPr>
          <p:cNvPr id="9" name="Shape 7"/>
          <p:cNvSpPr/>
          <p:nvPr/>
        </p:nvSpPr>
        <p:spPr>
          <a:xfrm>
            <a:off x="6199632" y="1097280"/>
            <a:ext cx="5532120" cy="2651760"/>
          </a:xfrm>
          <a:prstGeom prst="roundRect">
            <a:avLst>
              <a:gd name="adj" fmla="val 482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12700" dir="5400000">
              <a:srgbClr val="9A9A9A">
                <a:alpha val="18000"/>
              </a:srgbClr>
            </a:outerShdw>
          </a:effectLst>
        </p:spPr>
      </p:sp>
      <p:sp>
        <p:nvSpPr>
          <p:cNvPr id="10" name="Text 8"/>
          <p:cNvSpPr txBox="1"/>
          <p:nvPr/>
        </p:nvSpPr>
        <p:spPr>
          <a:xfrm>
            <a:off x="6473952" y="1225296"/>
            <a:ext cx="4983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3000" b="1" dirty="0">
                <a:solidFill>
                  <a:srgbClr val="EF3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Пилот — A/B на клиентах</a:t>
            </a:r>
            <a:endParaRPr lang="en-US" sz="3000" dirty="0"/>
          </a:p>
        </p:txBody>
      </p:sp>
      <p:sp>
        <p:nvSpPr>
          <p:cNvPr id="11" name="Text 9"/>
          <p:cNvSpPr txBox="1"/>
          <p:nvPr/>
        </p:nvSpPr>
        <p:spPr>
          <a:xfrm>
            <a:off x="6473952" y="1737360"/>
            <a:ext cx="49834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3000" dirty="0">
                <a:solidFill>
                  <a:srgbClr val="3A3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20 000 человек в группу</a:t>
            </a:r>
            <a:endParaRPr lang="en-US" sz="3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3000" dirty="0">
                <a:solidFill>
                  <a:srgbClr val="3A3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Поровну, вслепую</a:t>
            </a:r>
            <a:endParaRPr lang="en-US" sz="3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3000" dirty="0">
                <a:solidFill>
                  <a:srgbClr val="3A3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недели минимум,</a:t>
            </a:r>
            <a:endParaRPr lang="en-US" sz="3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3000" dirty="0">
                <a:solidFill>
                  <a:srgbClr val="3A3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квартал полный цикл</a:t>
            </a:r>
            <a:endParaRPr lang="en-US" sz="3000" dirty="0"/>
          </a:p>
        </p:txBody>
      </p:sp>
      <p:sp>
        <p:nvSpPr>
          <p:cNvPr id="12" name="Shape 10"/>
          <p:cNvSpPr/>
          <p:nvPr/>
        </p:nvSpPr>
        <p:spPr>
          <a:xfrm>
            <a:off x="457200" y="3931920"/>
            <a:ext cx="11274552" cy="1600200"/>
          </a:xfrm>
          <a:prstGeom prst="roundRect">
            <a:avLst>
              <a:gd name="adj" fmla="val 8000"/>
            </a:avLst>
          </a:prstGeom>
          <a:solidFill>
            <a:srgbClr val="FDEAE8"/>
          </a:solidFill>
          <a:ln/>
          <a:effectLst>
            <a:outerShdw sx="100000" sy="100000" kx="0" ky="0" algn="bl" rotWithShape="0" blurRad="101600" dist="12700" dir="5400000">
              <a:srgbClr val="9A9A9A">
                <a:alpha val="18000"/>
              </a:srgbClr>
            </a:outerShdw>
          </a:effectLst>
        </p:spPr>
      </p:sp>
      <p:sp>
        <p:nvSpPr>
          <p:cNvPr id="13" name="Text 11"/>
          <p:cNvSpPr txBox="1"/>
          <p:nvPr/>
        </p:nvSpPr>
        <p:spPr>
          <a:xfrm>
            <a:off x="777240" y="4059936"/>
            <a:ext cx="10607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30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Успех — это три условия сразу</a:t>
            </a:r>
            <a:endParaRPr lang="en-US" sz="3000" dirty="0"/>
          </a:p>
        </p:txBody>
      </p:sp>
      <p:sp>
        <p:nvSpPr>
          <p:cNvPr id="14" name="Text 12"/>
          <p:cNvSpPr txBox="1"/>
          <p:nvPr/>
        </p:nvSpPr>
        <p:spPr>
          <a:xfrm>
            <a:off x="777240" y="4572000"/>
            <a:ext cx="10607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3000" dirty="0">
                <a:solidFill>
                  <a:srgbClr val="3A3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Клиент получает больше · переводов не меньше ·</a:t>
            </a:r>
            <a:endParaRPr lang="en-US" sz="3000" dirty="0"/>
          </a:p>
        </p:txBody>
      </p:sp>
      <p:sp>
        <p:nvSpPr>
          <p:cNvPr id="15" name="Text 13"/>
          <p:cNvSpPr txBox="1"/>
          <p:nvPr/>
        </p:nvSpPr>
        <p:spPr>
          <a:xfrm>
            <a:off x="777240" y="5029200"/>
            <a:ext cx="10607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3000" dirty="0">
                <a:solidFill>
                  <a:srgbClr val="3A3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от пушей не отписываются</a:t>
            </a:r>
            <a:endParaRPr lang="en-US" sz="3000" dirty="0"/>
          </a:p>
        </p:txBody>
      </p:sp>
      <p:sp>
        <p:nvSpPr>
          <p:cNvPr id="16" name="Shape 14"/>
          <p:cNvSpPr/>
          <p:nvPr/>
        </p:nvSpPr>
        <p:spPr>
          <a:xfrm>
            <a:off x="457200" y="5669280"/>
            <a:ext cx="11274552" cy="685800"/>
          </a:xfrm>
          <a:prstGeom prst="roundRect">
            <a:avLst>
              <a:gd name="adj" fmla="val 18667"/>
            </a:avLst>
          </a:prstGeom>
          <a:solidFill>
            <a:srgbClr val="C3F53C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777240" y="5669280"/>
            <a:ext cx="10607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Мы не обещаем лучший день. Мы показываем сумму</a:t>
            </a:r>
            <a:endParaRPr lang="en-US" sz="3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5</Slides>
  <Notes>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2026-09-06T08:35:16Z</dcterms:created>
  <dcterms:modified xsi:type="dcterms:W3CDTF">2026-09-06T08:35:16Z</dcterms:modified>
</cp:coreProperties>
</file>