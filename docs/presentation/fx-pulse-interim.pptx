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не оспариваем постановку — мы воспроизвели её число её же методом и разложили на компоненты.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Находка 1 — наш главный дифференциатор: мы показываем механизм, а не только метрику.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C2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502920" y="365760"/>
            <a:ext cx="1945386" cy="651967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502920" y="386791"/>
            <a:ext cx="194538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49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502920" y="670712"/>
            <a:ext cx="194538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495" dirty="0"/>
          </a:p>
        </p:txBody>
      </p:sp>
      <p:sp>
        <p:nvSpPr>
          <p:cNvPr id="5" name="Shape 3"/>
          <p:cNvSpPr/>
          <p:nvPr/>
        </p:nvSpPr>
        <p:spPr>
          <a:xfrm>
            <a:off x="10088575" y="384048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F31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88575" y="3840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 Банк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9184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Триггерная модель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трансграничных переводов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51663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Промежуточная версия проекта · 4 сентября 2026 · репозиторий github.com/ne-olya/fx-pulse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56235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Немкин Кирилл — AI Product  ·  Сырых Ольга — данные и ML  ·  Бикинеев Амир — ML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Проблематика: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клиент выбирает день вслепую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5321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444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DEA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444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83664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«День перевода я выбираю каждый раз заново» — но курс в приложении это сегодняшняя цифра без системы отсчёта. Хорошая она или плохая относительно последних месяцев, знает только тот, кто следит за курсом ежедневно.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99632" y="1234440"/>
            <a:ext cx="55321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1444752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2823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28232" y="1883664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Даём то, чего у клиента нет, — ежедневное внимание к рынку. Отсюда эффект: больше переводов через нас, выше доля кошелька. Канал один — пуш, и он жёстко лимитирован.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11274552" cy="2999232"/>
          </a:xfrm>
          <a:prstGeom prst="roundRect">
            <a:avLst>
              <a:gd name="adj" fmla="val 42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611880"/>
            <a:ext cx="320040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6118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ЗАМЕР НА ДАННЫХ ЦБ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06908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9,40 %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727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максимальный размах курса RUB→TJS внутри месяца. Минимум 2,79 % — оба числа совпали с постановкой до второго знака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206240" y="406908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6,08 %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4206240" y="4727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этого размаха даёт рублёвая часть — рыночная и непредсказуемая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06908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1,24 %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7726680" y="4727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даёт нога нацбанка — административная и известная на день вперёд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5800" y="5715000"/>
            <a:ext cx="10817352" cy="530352"/>
          </a:xfrm>
          <a:prstGeom prst="roundRect">
            <a:avLst>
              <a:gd name="adj" fmla="val 20690"/>
            </a:avLst>
          </a:prstGeom>
          <a:solidFill>
            <a:srgbClr val="FDEAE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8680" y="5715000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Боль, которую описывает кейс, на пять шестых состоит из волатильности рубля, а не валюты получателя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Постановка: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сигнал обязан быть информативнее случайного дня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4552" cy="841248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234440"/>
            <a:ext cx="108173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«Построить и откалибровать сигнальный слой, который отвечает на вопрос „сегодня подходящий момент, чтобы подсказать клиенту перевод в эту страну?“ — и доказать метриками, что сигнал информативнее случайного дня»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3602736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85800" y="2450592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≥ 1,3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063240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 случайным днём, по точности (hit rate). Устойчиво = на нескольких коридорах и на out-of-time окнах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9392" y="2286000"/>
            <a:ext cx="3602736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07992" y="2450592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сигнала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507992" y="3063240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коридор в неделю. Равномерный поток без серий и пустых месяцев — кучность меряется отдельно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01584" y="2286000"/>
            <a:ext cx="3602736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30184" y="2450592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1/3/5/10/20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330184" y="3063240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дней — горизонты проверки. Главный не выделен: метрики нужны по всем пяти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187952"/>
            <a:ext cx="5532120" cy="1051560"/>
          </a:xfrm>
          <a:prstGeom prst="roundRect">
            <a:avLst>
              <a:gd name="adj" fmla="val 12174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85800" y="4370832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Дисквалификация — заглядывание вперёд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68172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 на дату T считается только по данным на T. Код обязан считать сигналы на произвольную дату среза.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99632" y="4187952"/>
            <a:ext cx="553212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28232" y="4370832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Фокус — триггерные коммуникации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468172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 чистый эффект информационного триггера. Триггерное ценообразование — скидки и надбавки в спреде — вне нашего направления.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5440680"/>
            <a:ext cx="11274552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85800" y="56052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кейсодатель отдал командам как допущение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8978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Горизонт, порог выгоды, окно расчёта, портрет клиента, поведение в тихий месяц, ограничения канала. «Решения оцениваются на уровне выводов, а не допущений» — каждое наше допущение зафиксировано письменно.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Подход: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дерево гипотез с заранее объявленной развилкой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593592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4173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H0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Продуктовая гипотеза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157984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Проблему решает сигнальный слой: банк берёт на себя ежедневное внимание к рынку и сообщает клиенту факт о курсе. Решение клиент принимает сам.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9392" y="1234440"/>
            <a:ext cx="3593592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07992" y="141732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07992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07992" y="18288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Техническая гипотеза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07992" y="2157984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Можно построить модель под метрики кейса: устойчивый lift ≥ 1,3, выгода значимо больше нуля, частота 1–2 в неделю, приемлемая кучность.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10728" y="1234440"/>
            <a:ext cx="3621024" cy="2148840"/>
          </a:xfrm>
          <a:prstGeom prst="roundRect">
            <a:avLst>
              <a:gd name="adj" fmla="val 5957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39328" y="141732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F31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39328" y="14173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H1′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339328" y="18288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Ответвление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157984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H1 не подтвердится — отсечка по стоимости: клиент сам задаёт курс. Так работают Wise, XE и Revolut. Предсказуемость курса не требуется вообще.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566160"/>
            <a:ext cx="11274552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85800" y="3566160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Разделение продуктовой и технической гипотез сделано намеренно: отрицательный результат по модели не обнуляет продуктовую работу. Именно так и вышло.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11274552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5800" y="4590288"/>
            <a:ext cx="420624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5800" y="45902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ВСПОМОГАТЕЛЬНЫЕ ГИПОТЕЗЫ ВНУТРИ H1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5047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 Лид-лаг мажоров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29437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опровергнута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447288" y="5047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 Базовые индикаторы ТЗ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3447288" y="529437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отрицательный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08776" y="5047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  Перенос из смежных сфер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208776" y="529437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отрицательный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970264" y="5047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H5  Эвристики из HFT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970264" y="529437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частично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6509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H6  Трендовые сценарии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8978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направление верно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3447288" y="56509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H7  Волатильность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3447288" y="58978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частично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08776" y="56509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H8  Rule-based против ML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208776" y="58978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проверены оба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970264" y="56509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  Сырьевые рынки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8970264" y="58978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вердикта нет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решения: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конвейер с границей информационного множества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563624" cy="603504"/>
          </a:xfrm>
          <a:prstGeom prst="chevron">
            <a:avLst/>
          </a:prstGeom>
          <a:solidFill>
            <a:srgbClr val="EF31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280160"/>
            <a:ext cx="1252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75688" y="1280160"/>
            <a:ext cx="1563624" cy="603504"/>
          </a:xfrm>
          <a:prstGeom prst="chevron">
            <a:avLst/>
          </a:prstGeom>
          <a:solidFill>
            <a:srgbClr val="EF31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58568" y="1280160"/>
            <a:ext cx="1252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Панель known_at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694176" y="1280160"/>
            <a:ext cx="1563624" cy="603504"/>
          </a:xfrm>
          <a:prstGeom prst="chevron">
            <a:avLst/>
          </a:prstGeom>
          <a:solidFill>
            <a:srgbClr val="EF31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877056" y="1280160"/>
            <a:ext cx="1252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Индикаторы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312664" y="1280160"/>
            <a:ext cx="1563624" cy="603504"/>
          </a:xfrm>
          <a:prstGeom prst="chevron">
            <a:avLst/>
          </a:prstGeom>
          <a:solidFill>
            <a:srgbClr val="EF31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95544" y="1280160"/>
            <a:ext cx="1252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Разметка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931152" y="1280160"/>
            <a:ext cx="1563624" cy="603504"/>
          </a:xfrm>
          <a:prstGeom prst="chevron">
            <a:avLst/>
          </a:prstGeom>
          <a:solidFill>
            <a:srgbClr val="EF31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14032" y="1280160"/>
            <a:ext cx="1252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Walk-forward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549640" y="1280160"/>
            <a:ext cx="1563624" cy="603504"/>
          </a:xfrm>
          <a:prstGeom prst="chevron">
            <a:avLst/>
          </a:prstGeom>
          <a:solidFill>
            <a:srgbClr val="EF31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32520" y="1280160"/>
            <a:ext cx="1252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Перебор сетки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0168128" y="1280160"/>
            <a:ext cx="1563624" cy="603504"/>
          </a:xfrm>
          <a:prstGeom prst="chevron">
            <a:avLst/>
          </a:prstGeom>
          <a:solidFill>
            <a:srgbClr val="EF31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351008" y="1280160"/>
            <a:ext cx="1252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signals_as_of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2148840"/>
            <a:ext cx="365760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233172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233172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ЗАЩИТА ОТ УТЕЧКИ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27432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signals_as_of(T)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3054096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Строит панель с as_of = T и падает, если хоть одна строка имеет known_at &gt; T. Скрытого чтения глобального датасета нет.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79392" y="2148840"/>
            <a:ext cx="365760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07992" y="23317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07992" y="233172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ВАЛИДАЦИЯ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507992" y="27432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Walk-forward + purging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07992" y="3054096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Расширяющееся поквартальное окно. Перед каждым тестовым кварталом из обучения удаляются 20 последних сессий: их длинная метка ещё не известна.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92440" y="2148840"/>
            <a:ext cx="3639312" cy="1874520"/>
          </a:xfrm>
          <a:prstGeom prst="roundRect">
            <a:avLst>
              <a:gd name="adj" fmla="val 6829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21040" y="23317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F31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321040" y="233172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СТРОЖЕ ПОСТАНОВКИ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27432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Matched-random baseline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3054096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не с базовой частотой, а со случайной политикой, дающей столько же сообщений в тех же неделях.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206240"/>
            <a:ext cx="11274552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85800" y="437083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модуль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3447288" y="437083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файлов тестов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6208776" y="437083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конфигов</a:t>
            </a:r>
            <a:endParaRPr lang="en-US" sz="1900" dirty="0"/>
          </a:p>
        </p:txBody>
      </p:sp>
      <p:sp>
        <p:nvSpPr>
          <p:cNvPr id="39" name="Text 37"/>
          <p:cNvSpPr txBox="1"/>
          <p:nvPr/>
        </p:nvSpPr>
        <p:spPr>
          <a:xfrm>
            <a:off x="8970264" y="437083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</a:t>
            </a:r>
            <a:endParaRPr lang="en-US" sz="19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4754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src/fxpulse — от загрузки до сигналов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3447288" y="4754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загрузчики, панель, индикаторы, бэктест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208776" y="4754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сетка зарегистрирована заранее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8970264" y="4754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хеш конфига пишется до чтения результата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5440680"/>
            <a:ext cx="11274552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85800" y="56052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 данных: живой рынок, а не фиксинг ЦБ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58978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Якорь — CNY/RUB TOM по ценам закрытия плюс 10 внешних факторов MOEX со сдвигом на сессию. Причина — на следующем слайде.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находки в данных,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изменившие подход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455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453896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EF31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453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44752" y="145389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Курсы всех пяти коридоров ЦБ считает кроссом через доллар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44752" y="1837944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 найдена дословно в п. 3.3 Указания 6956-У и подтверждена эмпирически: совпадение 0,01 бп при сдвиге ровно в один день, 98,8 % дат точнее 1 бп. Нога нацбанка опаздывает на сутки по регламенту, а не по рыночным причинам.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944368"/>
            <a:ext cx="1127455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85800" y="3163824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EF31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31638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44752" y="316382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Моментум на ряду ЦБ срабатывает на артефакте измерения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44752" y="3547872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Автокорреляция доходностей «среднее к среднему» равна +0,25 по построению, безотносительно рынка. Первый прогон попал ровно в этот диапазон. На ценах закрытия эффект по CNY исчез полностью: +0,195 → −0,022.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4654296"/>
            <a:ext cx="1127455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" y="48737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EF31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48737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44752" y="487375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 = рубль × известная нога — но не везде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44752" y="52578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UZS нога даёт 4–5 % дисперсии, для AMD 8 %, для TJS 11 %. Но для KGS 24–33 % и для KZT 30–37 %, причём с ростом горизонта доля растёт. «Пять коридоров — один актив» читается как «три из пяти».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Выполненные этапы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что осталось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532120" cy="5166360"/>
          </a:xfrm>
          <a:prstGeom prst="roundRect">
            <a:avLst>
              <a:gd name="adj" fmla="val 2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444752"/>
            <a:ext cx="201168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44475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СДЕЛАНО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901952"/>
            <a:ext cx="5074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Датасет собран и прошёл аудит качества: ЦБ РФ 2136 дат по 8 валютам, снимок MOEX за 5 лет, 10-минутные свечи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Сигнальный конвейер целиком: панель, индикаторы, разметка, бэктест, перебор сетки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signals_as_of(T) с проверкой границы информационного множества — дисквалифицирующее требование закрыто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Walk-forward с purging; кучность, частота, выгода и lift считаются штатно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 15 сигнальных правил и 6 семейств моделей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Regret-метрика вместо строгого минимума: метка перестала считать ошибку в 1 бп и в 100 бп одинаковой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Калибровка проверена: raw score лучше sigmoid и isotonic в 20 задачах из 20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Matched-random baseline — строже, чем требует постановка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Обзор смежных отраслей и два раунда вопросов кейсодателю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1234440"/>
            <a:ext cx="5532120" cy="5166360"/>
          </a:xfrm>
          <a:prstGeom prst="roundRect">
            <a:avLst>
              <a:gd name="adj" fmla="val 2478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1444752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F31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28232" y="144475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ОСТАЛОСЬ ОБЯЗАТЕЛЬНОГО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28232" y="1901952"/>
            <a:ext cx="5074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Прогон по пяти коридорам кейса. Все числа получены на CNY/RUB; TJS, UZS, KGS, AMD и KZT загружены и проверены, но не прогнаны — матрицы «индикатор × коридор» пока нет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матрица горизонтов 1/3/5/10/20 — сейчас главный срез только h = 5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ожидания в базисных пунктах — п. 6 постановки, названный «ключевым вопросом кейса». Поле speed в схеме есть, измерения нет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Сезонность с праздниками стран-получателей: индикатор написан, календари не загружены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Библиотека текстов пушей и список запрещённых формулировок</a:t>
            </a:r>
            <a:endParaRPr lang="en-US" sz="115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пилота, инструкция по запуску, раздел ограничений и компромиссов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результаты: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ни одна конфигурация не проходит все ворота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20700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ПРАВИЛА И СЦЕНАРИИ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9344"/>
          <a:ext cx="55321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868680"/>
                <a:gridCol w="1097280"/>
                <a:gridCol w="10972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Правило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Направл.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Выгода, бп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Сигн./нед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H9  пробой вверх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7F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  разворот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7F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H4  интрадей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H8  нижний дециль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favorable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3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−10,9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H10 Боллинджер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favorable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3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3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−5,5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Моментум из ТЗ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favorable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3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0,69–1,05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3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отрицат.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199632" y="1207008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99632" y="12070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ML-ВЕТКА</a:t>
            </a:r>
            <a:endParaRPr lang="en-US" sz="11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609344"/>
          <a:ext cx="55321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3832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проверяли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Результат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Точный минимум 1/5/20 сессий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lift 1,20 / 1,15 / 1,10 — метка не различает ошибку 1 и 100 бп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Regret на 5 сессий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lift 1,08–1,18, все bootstrap-интервалы пересекают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семейств классификаторов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устойчивого улучшения не дал ни один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Strict + regret, гибрид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pooled 1,45 — но квартал с lift 0 и частота 0,70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Dual-regret, основная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lift 1,03, частота 0,59, проиграл случайной политике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3977640"/>
            <a:ext cx="11274552" cy="1097280"/>
          </a:xfrm>
          <a:prstGeom prst="roundRect">
            <a:avLst>
              <a:gd name="adj" fmla="val 11667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685800" y="41605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мы не предъявляем лучший результат — pooled lift 1,45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462272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Хотя бы один квартал с lift 0 — устойчивости нет. Частота 0,70 в неделю — ниже продуктового требования. Проверялись восемь сочетаний «цель × модель», поэтому точечный интервал не доказывает эффект после поправки на множественные сравнения.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57200" y="5230368"/>
            <a:ext cx="11274552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685800" y="539496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проверка, которую наша лучшая модель не прошла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5800" y="5696712"/>
            <a:ext cx="10817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Сравнили XGBoost со случайной политикой, дающей столько же сообщений в тех же неделях. Средний hit rate случайной политики — 23,3 % против 21,8 % у модели, и в 76,6 % случайных прогонов lift оказался не хуже модельного.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вывод: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частота и точность на этих данных несовместимы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53212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444752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44475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ЧАСТЫЙ СИГНАЛ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7452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+2,6 бп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60604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1,92 сигнала в неделю. Единственная гипотеза, прошедшая требование частоты, — внутридневная. Выгода символическая.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234440"/>
            <a:ext cx="553212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444752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28232" y="144475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ЦЕННЫЙ СИГНАЛ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187452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7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+83…+192 бп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6428232" y="260604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0,03–0,19 сигнала в неделю — несколько раз в год. Для пилота столько событий не набрать.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520440"/>
            <a:ext cx="11274552" cy="1234440"/>
          </a:xfrm>
          <a:prstGeom prst="roundRect">
            <a:avLst>
              <a:gd name="adj" fmla="val 10370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5800" y="37033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и есть содержательный ответ на вопрос кейса о дефицитном канале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041648"/>
            <a:ext cx="10817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Кейс построен вокруг того, что пуш — дефицитный ресурс. Мы измерили, где именно дефицит упирается в данные: середины между частым бесполезным и редким ценным сигналом на дневной истории CNY/RUB нет.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937760"/>
            <a:ext cx="1127455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" y="5120640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" y="51206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ПОДТВЕРДИЛОСЬ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559552"/>
            <a:ext cx="1081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Направление сообщения мы определили верно. Все сценарии «окно закрывается» дают положительную выгоду вперёд (+39,8…+91,2 бп), все моментум-сценарии «сейчас выгодно» — отрицательную. Постановка повесила на верную предпосылку неверное сообщение, и мы показали это числами. Не хватило силы: lift 1,09–1,18 при пороге 1,3.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Риски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позиция по каждому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532120" cy="2377440"/>
          </a:xfrm>
          <a:prstGeom prst="roundRect">
            <a:avLst>
              <a:gd name="adj" fmla="val 5385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444752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F31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44475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РИСК РЕАЛИЗОВАЛСЯ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8366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Устойчивый lift ≥ 1,3 не достигнут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212848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Позиция: не растягивать порог подгонкой окон, а честно предъявить отрицательный результат — постановка это прямо предусматривает. H1′ переходит из страховки в основной продуктовый сценарий: отсечка по стоимости не требует предсказуемости курса вообще.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99632" y="1234440"/>
            <a:ext cx="553212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44475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28232" y="14447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РИСК ПОДГОНКИ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188366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Массовый перебор находит шум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28232" y="2212848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Лечение введено до прогона: сетка регистрируется заранее, SHA-256 конфига пишется в run_meta до интерпретации результата, block-bootstrap на интервалы, отчёт по всей сетке, а не по выжившим.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11274552" cy="260604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" y="3977640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9776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ОГРАНИЧЕНИЯ РЕШЕНИЯ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43484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 ЦБ — не курс исполнения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690872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переводит по курсу приложения: реальное время, поставщики ликвидности. Все метрики посчитаны на публичном ряду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443484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 подтверждена на одном коридоре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4690872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п. 3.3 сверен на Казахстане за 4 месяца. Нацбанки по-разному датируют публикацию — у НБ КР дата уже указывает на завтра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39496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Ликвидность KZT на MOEX обвалилась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650992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1125 сделок в день в 2023 → 72 в 2025 → 45 в 2026. Биржевые выводы опираются на период до 2025 года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539496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Клиентских данных нет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5650992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Сквозной сценарий строится на обоснованном портрете аудитории или синтетическом потоке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работ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до финальной защиты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4552" cy="5166360"/>
          </a:xfrm>
          <a:prstGeom prst="roundRect">
            <a:avLst>
              <a:gd name="adj" fmla="val 2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517904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F31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149961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Прогон по пяти коридорам кейса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14996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149961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Обязательный результат — матрица «индикатор × коридор × метрики». Сейчас её не существует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212598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F31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21259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10769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матрица горизонтов 1/3/5/10/20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10769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210769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Базовая частота падает с 0,51 до 0,16: на h = 20 для lift 1,3 нужен вчетверо меньший прирост в п.п.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2734056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F31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2734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27157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ожидания в базисных пунктах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26280" y="2715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852160" y="271576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Пункт 6 постановки, «ключевой вопрос кейса». Единственный обязательный пункт, где у нас ноль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5800" y="3342132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F31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33238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Сезонность и праздники стран-получателей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26280" y="332384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852160" y="332384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Прямо в списке базовых индикаторов ТЗ; индикатор написан, календари не загружены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85800" y="395020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F31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5800" y="3950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39319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H1′: бэктест заявок по целевому курсу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26280" y="39319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+ продакт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852160" y="393192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Сетка порогов и сроков; доля исполнения и выгода против «перевести сегодня»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85800" y="4558284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F31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85800" y="45582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" y="45399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Библиотека текстов и запрещённых формулировок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4526280" y="453999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Продакт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852160" y="453999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Пункт 8 ТЗ: сценарий → формулировка, плюс механизм каждого запрета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85800" y="516636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F31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5800" y="5166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143000" y="51480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пилота и арифметика событий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4526280" y="51480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Продакт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852160" y="514807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нужно от банка, какие метрики, за какой срок наберутся события при нашей частоте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85800" y="5774436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F312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85800" y="5774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143000" y="575614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Инструкция по запуску и раздел ограничений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4526280" y="575614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5852160" y="575614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 организаторов: посторонний человек повторяет результат одной командой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134295" y="256032"/>
            <a:ext cx="1607058" cy="53858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134295" y="273406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23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134295" y="507949"/>
            <a:ext cx="1607058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23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распределение задач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611880" cy="516636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4447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Немкин Кирилл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178308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178308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PRODUCT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21284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Постановка и дерево гипотез, работа с кейсодателем, обзор смежных отраслей, продуктовые ограничения для ML, документация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127248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Ключевое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401568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Замер премиссы кейса: 9,40 % и 2,79 % воспроизведены до второго знака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Разложение дисперсии коридоров — вскрыло, что вывод «один актив» верен для трёх из пяти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базовых частот по горизонтам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от механик с оплатой удержания цены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5486400"/>
            <a:ext cx="3154680" cy="713232"/>
          </a:xfrm>
          <a:prstGeom prst="roundRect">
            <a:avLst>
              <a:gd name="adj" fmla="val 12821"/>
            </a:avLst>
          </a:prstGeom>
          <a:solidFill>
            <a:srgbClr val="EBEBE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5577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занятость. Сейчас: тексты пушей, план пилота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88536" y="1234440"/>
            <a:ext cx="3611880" cy="516636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517136" y="14447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Сырых Ольга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17136" y="178308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17136" y="178308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И ML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517136" y="221284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Каркас репозитория, слой загрузки данных, воспроизводимый запуск, дизайн конвейера ML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17136" y="3127248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Ключевое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17136" y="3401568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Сигнальный конвейер целиком: панель, индикаторы, разметка, бэктест, перебор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signals_as_of(T) и тест на утечку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Реестр 15 гипотез, аудит качества данных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файлов тестов, 12 конфигов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17136" y="5486400"/>
            <a:ext cx="3154680" cy="713232"/>
          </a:xfrm>
          <a:prstGeom prst="roundRect">
            <a:avLst>
              <a:gd name="adj" fmla="val 12821"/>
            </a:avLst>
          </a:prstGeom>
          <a:solidFill>
            <a:srgbClr val="EBEBE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654296" y="5577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занятость. Сейчас: прогон по коридорам, матрица горизонтов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19872" y="1234440"/>
            <a:ext cx="3611880" cy="516636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348472" y="14447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Бикинеев Амир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348472" y="178308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C3F5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48472" y="178308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348472" y="221284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класса моделей с приоритетом интерпретируемости, метрики качества сигнала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348472" y="3127248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Ключевое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348472" y="3401568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Regret-бенчмарк вместо строгой метки минимума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Dual-regret политика как основная гипотеза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Matched-random baseline — забраковал лучшую модель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Исправление переноса порога между OOF и refit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348472" y="5486400"/>
            <a:ext cx="3154680" cy="713232"/>
          </a:xfrm>
          <a:prstGeom prst="roundRect">
            <a:avLst>
              <a:gd name="adj" fmla="val 12821"/>
            </a:avLst>
          </a:prstGeom>
          <a:solidFill>
            <a:srgbClr val="EBEBE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85632" y="5577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занятость. Сейчас: перенос целей на другой коридор и интрадей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6C2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502920" y="365760"/>
            <a:ext cx="1945386" cy="651967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502920" y="386791"/>
            <a:ext cx="194538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495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502920" y="670712"/>
            <a:ext cx="194538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495" dirty="0"/>
          </a:p>
        </p:txBody>
      </p:sp>
      <p:sp>
        <p:nvSpPr>
          <p:cNvPr id="5" name="Shape 3"/>
          <p:cNvSpPr/>
          <p:nvPr/>
        </p:nvSpPr>
        <p:spPr>
          <a:xfrm>
            <a:off x="10088575" y="384048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F31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88575" y="3840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 Банк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9184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52120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github.com/ne-olya/fx-pulse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2026-09-03T20:13:00Z</dcterms:created>
  <dcterms:modified xsi:type="dcterms:W3CDTF">2026-09-03T20:13:00Z</dcterms:modified>
</cp:coreProperties>
</file>