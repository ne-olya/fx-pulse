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не оспариваем постановку — мы воспроизвели её число её же методом и разложили на компоненты.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Находка 1 — наш главный дифференциатор: мы показываем механизм, а не только метрику.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C2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00000">
            <a:off x="502920" y="365760"/>
            <a:ext cx="1945386" cy="651967"/>
          </a:xfrm>
          <a:prstGeom prst="rect">
            <a:avLst/>
          </a:prstGeom>
          <a:solidFill>
            <a:srgbClr val="EF3124"/>
          </a:solidFill>
          <a:ln/>
        </p:spPr>
      </p:sp>
      <p:sp>
        <p:nvSpPr>
          <p:cNvPr id="3" name="Text 1"/>
          <p:cNvSpPr txBox="1"/>
          <p:nvPr/>
        </p:nvSpPr>
        <p:spPr>
          <a:xfrm rot="-300000">
            <a:off x="502920" y="386791"/>
            <a:ext cx="194538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АЛЬФА</a:t>
            </a:r>
            <a:endParaRPr lang="en-US" sz="1495" dirty="0"/>
          </a:p>
        </p:txBody>
      </p:sp>
      <p:sp>
        <p:nvSpPr>
          <p:cNvPr id="4" name="Text 2"/>
          <p:cNvSpPr txBox="1"/>
          <p:nvPr/>
        </p:nvSpPr>
        <p:spPr>
          <a:xfrm rot="-300000">
            <a:off x="502920" y="670712"/>
            <a:ext cx="194538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БУДУЩЕЕ</a:t>
            </a:r>
            <a:endParaRPr lang="en-US" sz="1495" dirty="0"/>
          </a:p>
        </p:txBody>
      </p:sp>
      <p:sp>
        <p:nvSpPr>
          <p:cNvPr id="5" name="Shape 3"/>
          <p:cNvSpPr/>
          <p:nvPr/>
        </p:nvSpPr>
        <p:spPr>
          <a:xfrm>
            <a:off x="10088575" y="384048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EF312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88575" y="3840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Альфа Банк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9184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Триггерная модель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трансграничных переводов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51663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Промежуточная версия проекта · 4 сентября 2026 · репозиторий github.com/ne-olya/fx-pulse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56235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Немкин Кирилл — AI Product  ·  Сырых Ольга — данные и ML  ·  Бикинеев Амир — ML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00000">
            <a:off x="10134295" y="256032"/>
            <a:ext cx="1607058" cy="538582"/>
          </a:xfrm>
          <a:prstGeom prst="rect">
            <a:avLst/>
          </a:prstGeom>
          <a:solidFill>
            <a:srgbClr val="EF3124"/>
          </a:solidFill>
          <a:ln/>
        </p:spPr>
      </p:sp>
      <p:sp>
        <p:nvSpPr>
          <p:cNvPr id="3" name="Text 1"/>
          <p:cNvSpPr txBox="1"/>
          <p:nvPr/>
        </p:nvSpPr>
        <p:spPr>
          <a:xfrm rot="-300000">
            <a:off x="10134295" y="273406"/>
            <a:ext cx="160705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АЛЬФА</a:t>
            </a:r>
            <a:endParaRPr lang="en-US" sz="1235" dirty="0"/>
          </a:p>
        </p:txBody>
      </p:sp>
      <p:sp>
        <p:nvSpPr>
          <p:cNvPr id="4" name="Text 2"/>
          <p:cNvSpPr txBox="1"/>
          <p:nvPr/>
        </p:nvSpPr>
        <p:spPr>
          <a:xfrm rot="-300000">
            <a:off x="10134295" y="507949"/>
            <a:ext cx="160705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БУДУЩЕЕ</a:t>
            </a:r>
            <a:endParaRPr lang="en-US" sz="1235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6032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Проблематика:</a:t>
            </a:r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клиент выбирает день вслепую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53212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444752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DEA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44475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83664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«День перевода я выбираю каждый раз заново» — но курс в приложении это сегодняшняя цифра без системы отсчёта. Хорошая она или плохая относительно последних месяцев, знает только тот, кто следит за курсом ежедневно.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99632" y="1234440"/>
            <a:ext cx="553212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28232" y="144475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C3F53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28232" y="144475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БАНК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428232" y="1883664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Даём то, чего у клиента нет, — ежедневное внимание к рынку. Отсюда эффект: больше переводов через нас, выше доля кошелька. Канал один — пуш, и он жёстко лимитирован.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11274552" cy="2999232"/>
          </a:xfrm>
          <a:prstGeom prst="roundRect">
            <a:avLst>
              <a:gd name="adj" fmla="val 42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611880"/>
            <a:ext cx="3200400" cy="310896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361188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ЗАМЕР НА ДАННЫХ ЦБ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406908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9,40 %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72744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максимальный размах курса RUB→TJS внутри месяца. Минимум 2,79 % — оба числа совпали с постановкой до второго знака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206240" y="406908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6,08 %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4206240" y="472744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этого размаха даёт рублёвая часть — рыночная и непредсказуемая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406908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1,24 %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7726680" y="472744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даёт нога нацбанка — административная и известная на день вперёд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" y="5715000"/>
            <a:ext cx="10817352" cy="530352"/>
          </a:xfrm>
          <a:prstGeom prst="roundRect">
            <a:avLst>
              <a:gd name="adj" fmla="val 20690"/>
            </a:avLst>
          </a:prstGeom>
          <a:solidFill>
            <a:srgbClr val="FDEAE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8680" y="5715000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Боль, которую описывает кейс, на пять шестых состоит из волатильности рубля, а не валюты получателя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00000">
            <a:off x="10134295" y="256032"/>
            <a:ext cx="1607058" cy="538582"/>
          </a:xfrm>
          <a:prstGeom prst="rect">
            <a:avLst/>
          </a:prstGeom>
          <a:solidFill>
            <a:srgbClr val="EF3124"/>
          </a:solidFill>
          <a:ln/>
        </p:spPr>
      </p:sp>
      <p:sp>
        <p:nvSpPr>
          <p:cNvPr id="3" name="Text 1"/>
          <p:cNvSpPr txBox="1"/>
          <p:nvPr/>
        </p:nvSpPr>
        <p:spPr>
          <a:xfrm rot="-300000">
            <a:off x="10134295" y="273406"/>
            <a:ext cx="160705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АЛЬФА</a:t>
            </a:r>
            <a:endParaRPr lang="en-US" sz="1235" dirty="0"/>
          </a:p>
        </p:txBody>
      </p:sp>
      <p:sp>
        <p:nvSpPr>
          <p:cNvPr id="4" name="Text 2"/>
          <p:cNvSpPr txBox="1"/>
          <p:nvPr/>
        </p:nvSpPr>
        <p:spPr>
          <a:xfrm rot="-300000">
            <a:off x="10134295" y="507949"/>
            <a:ext cx="160705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БУДУЩЕЕ</a:t>
            </a:r>
            <a:endParaRPr lang="en-US" sz="1235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6032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Постановка:</a:t>
            </a:r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сигнал обязан быть информативнее случайного дня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274552" cy="841248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234440"/>
            <a:ext cx="108173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«Построить и откалибровать сигнальный слой, который отвечает на вопрос „сегодня подходящий момент, чтобы подсказать клиенту перевод в эту страну?“ — и доказать метриками, что сигнал информативнее случайного дня»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3602736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85800" y="2450592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 ≥ 1,3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063240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 случайным днём, по точности (hit rate). Устойчиво = на нескольких коридорах и на out-of-time окнах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79392" y="2286000"/>
            <a:ext cx="3602736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507992" y="2450592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сигнала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507992" y="3063240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коридор в неделю. Равномерный поток без серий и пустых месяцев — кучность меряется отдельно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1584" y="2286000"/>
            <a:ext cx="3602736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330184" y="2450592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1/3/5/10/20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330184" y="3063240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дней — горизонты проверки. Главный не выделен: метрики нужны по всем пяти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187952"/>
            <a:ext cx="5532120" cy="1051560"/>
          </a:xfrm>
          <a:prstGeom prst="roundRect">
            <a:avLst>
              <a:gd name="adj" fmla="val 12174"/>
            </a:avLst>
          </a:prstGeom>
          <a:solidFill>
            <a:srgbClr val="FDEAE8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85800" y="4370832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Дисквалификация — заглядывание вперёд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68172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Сигнал на дату T считается только по данным на T. Код обязан считать сигналы на произвольную дату среза.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99632" y="4187952"/>
            <a:ext cx="553212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428232" y="4370832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Фокус — триггерные коммуникации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28232" y="468172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Проверяем чистый эффект информационного триггера. Триггерное ценообразование — скидки и надбавки в спреде — вне нашего направления.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5440680"/>
            <a:ext cx="11274552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85800" y="560527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кейсодатель отдал командам как допущение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589788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Горизонт, порог выгоды, окно расчёта, портрет клиента, поведение в тихий месяц, ограничения канала. «Решения оцениваются на уровне выводов, а не допущений» — каждое наше допущение зафиксировано письменно.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00000">
            <a:off x="10134295" y="256032"/>
            <a:ext cx="1607058" cy="538582"/>
          </a:xfrm>
          <a:prstGeom prst="rect">
            <a:avLst/>
          </a:prstGeom>
          <a:solidFill>
            <a:srgbClr val="EF3124"/>
          </a:solidFill>
          <a:ln/>
        </p:spPr>
      </p:sp>
      <p:sp>
        <p:nvSpPr>
          <p:cNvPr id="3" name="Text 1"/>
          <p:cNvSpPr txBox="1"/>
          <p:nvPr/>
        </p:nvSpPr>
        <p:spPr>
          <a:xfrm rot="-300000">
            <a:off x="10134295" y="273406"/>
            <a:ext cx="160705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АЛЬФА</a:t>
            </a:r>
            <a:endParaRPr lang="en-US" sz="1235" dirty="0"/>
          </a:p>
        </p:txBody>
      </p:sp>
      <p:sp>
        <p:nvSpPr>
          <p:cNvPr id="4" name="Text 2"/>
          <p:cNvSpPr txBox="1"/>
          <p:nvPr/>
        </p:nvSpPr>
        <p:spPr>
          <a:xfrm rot="-300000">
            <a:off x="10134295" y="507949"/>
            <a:ext cx="160705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БУДУЩЕЕ</a:t>
            </a:r>
            <a:endParaRPr lang="en-US" sz="1235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6032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Подход:</a:t>
            </a:r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дерево гипотез с заранее объявленной развилкой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593592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41732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C3F53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41732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H0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2880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Продуктовая гипотеза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157984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Проблему решает сигнальный слой: банк берёт на себя ежедневное внимание к рынку и сообщает клиенту факт о курсе. Решение клиент принимает сам.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79392" y="1234440"/>
            <a:ext cx="3593592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07992" y="141732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C3F53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07992" y="141732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07992" y="182880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Техническая гипотеза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07992" y="2157984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Можно построить модель под метрики кейса: устойчивый lift ≥ 1,3, выгода значимо больше нуля, частота 1–2 в неделю, приемлемая кучность.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10728" y="1234440"/>
            <a:ext cx="3621024" cy="2148840"/>
          </a:xfrm>
          <a:prstGeom prst="roundRect">
            <a:avLst>
              <a:gd name="adj" fmla="val 5957"/>
            </a:avLst>
          </a:prstGeom>
          <a:solidFill>
            <a:srgbClr val="FDEAE8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39328" y="141732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F312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39328" y="141732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H1′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339328" y="182880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Ответвление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339328" y="2157984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H1 не подтвердится — отсечка по стоимости: клиент сам задаёт курс. Так работают Wise, XE и Revolut. Предсказуемость курса не требуется вообще.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566160"/>
            <a:ext cx="11274552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85800" y="3566160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Разделение продуктовой и технической гипотез сделано намеренно: отрицательный результат по модели не обнуляет продуктовую работу. Именно так и вышло.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11274552" cy="1993392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5800" y="4590288"/>
            <a:ext cx="4206240" cy="310896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5800" y="459028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ВСПОМОГАТЕЛЬНЫЕ ГИПОТЕЗЫ ВНУТРИ H1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50474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Regret / triple barrier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52943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рабочая цель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3447288" y="50474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Длинная история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3447288" y="52943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помогла h = 5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208776" y="50474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 prediction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208776" y="52943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нужная частота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970264" y="50474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Режимы / GARCH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970264" y="52943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сигнал слишком редок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56509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Внешние факторы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58978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Brent полезен локально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3447288" y="56509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Pooled-коридоры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3447288" y="58978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общей прибавки нет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208776" y="56509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Правила / meta-labeling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208776" y="58978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уступили бустингу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970264" y="56509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Аномалии / календарь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8970264" y="58978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общей прибавки нет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00000">
            <a:off x="10134295" y="256032"/>
            <a:ext cx="1607058" cy="538582"/>
          </a:xfrm>
          <a:prstGeom prst="rect">
            <a:avLst/>
          </a:prstGeom>
          <a:solidFill>
            <a:srgbClr val="EF3124"/>
          </a:solidFill>
          <a:ln/>
        </p:spPr>
      </p:sp>
      <p:sp>
        <p:nvSpPr>
          <p:cNvPr id="3" name="Text 1"/>
          <p:cNvSpPr txBox="1"/>
          <p:nvPr/>
        </p:nvSpPr>
        <p:spPr>
          <a:xfrm rot="-300000">
            <a:off x="10134295" y="273406"/>
            <a:ext cx="160705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АЛЬФА</a:t>
            </a:r>
            <a:endParaRPr lang="en-US" sz="1235" dirty="0"/>
          </a:p>
        </p:txBody>
      </p:sp>
      <p:sp>
        <p:nvSpPr>
          <p:cNvPr id="4" name="Text 2"/>
          <p:cNvSpPr txBox="1"/>
          <p:nvPr/>
        </p:nvSpPr>
        <p:spPr>
          <a:xfrm rot="-300000">
            <a:off x="10134295" y="507949"/>
            <a:ext cx="160705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БУДУЩЕЕ</a:t>
            </a:r>
            <a:endParaRPr lang="en-US" sz="1235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6032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Схема решения:</a:t>
            </a:r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конвейер с границей информационного множества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563624" cy="603504"/>
          </a:xfrm>
          <a:prstGeom prst="chevron">
            <a:avLst/>
          </a:prstGeom>
          <a:solidFill>
            <a:srgbClr val="EF312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280160"/>
            <a:ext cx="12527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75688" y="1280160"/>
            <a:ext cx="1563624" cy="603504"/>
          </a:xfrm>
          <a:prstGeom prst="chevron">
            <a:avLst/>
          </a:prstGeom>
          <a:solidFill>
            <a:srgbClr val="EF312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258568" y="1280160"/>
            <a:ext cx="12527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Панель known_at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94176" y="1280160"/>
            <a:ext cx="1563624" cy="603504"/>
          </a:xfrm>
          <a:prstGeom prst="chevron">
            <a:avLst/>
          </a:prstGeom>
          <a:solidFill>
            <a:srgbClr val="EF31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877056" y="1280160"/>
            <a:ext cx="12527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Индикаторы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12664" y="1280160"/>
            <a:ext cx="1563624" cy="603504"/>
          </a:xfrm>
          <a:prstGeom prst="chevron">
            <a:avLst/>
          </a:prstGeom>
          <a:solidFill>
            <a:srgbClr val="EF31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95544" y="1280160"/>
            <a:ext cx="12527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Разметка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931152" y="1280160"/>
            <a:ext cx="1563624" cy="603504"/>
          </a:xfrm>
          <a:prstGeom prst="chevron">
            <a:avLst/>
          </a:prstGeom>
          <a:solidFill>
            <a:srgbClr val="EF312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14032" y="1280160"/>
            <a:ext cx="12527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Walk-forward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549640" y="1280160"/>
            <a:ext cx="1563624" cy="603504"/>
          </a:xfrm>
          <a:prstGeom prst="chevron">
            <a:avLst/>
          </a:prstGeom>
          <a:solidFill>
            <a:srgbClr val="EF312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732520" y="1280160"/>
            <a:ext cx="12527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Перебор сетки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168128" y="1280160"/>
            <a:ext cx="1563624" cy="603504"/>
          </a:xfrm>
          <a:prstGeom prst="chevron">
            <a:avLst/>
          </a:prstGeom>
          <a:solidFill>
            <a:srgbClr val="EF312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351008" y="1280160"/>
            <a:ext cx="12527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signals_as_of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148840"/>
            <a:ext cx="365760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233172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23317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ОТ УТЕЧКИ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27432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signals_as_of(T)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3054096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Строит панель с as_of = T и падает, если хоть одна строка имеет known_at &gt; T. Скрытого чтения глобального датасета нет.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79392" y="2148840"/>
            <a:ext cx="365760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07992" y="233172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07992" y="233172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ВАЛИДАЦИЯ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507992" y="27432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Walk-forward + purging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507992" y="3054096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Расширяющееся поквартальное окно. Перед каждым тестовым кварталом из обучения удаляются 20 последних сессий: их длинная метка ещё не известна.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92440" y="2148840"/>
            <a:ext cx="3639312" cy="1874520"/>
          </a:xfrm>
          <a:prstGeom prst="roundRect">
            <a:avLst>
              <a:gd name="adj" fmla="val 6829"/>
            </a:avLst>
          </a:prstGeom>
          <a:solidFill>
            <a:srgbClr val="FDEAE8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21040" y="233172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F312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321040" y="233172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СТРОЖЕ ПОСТАНОВКИ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27432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Matched-random baseline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3054096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не с базовой частотой, а со случайной политикой, дающей столько же сообщений в тех же неделях.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206240"/>
            <a:ext cx="11274552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685800" y="43708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модуля</a:t>
            </a:r>
            <a:endParaRPr lang="en-US" sz="1900" dirty="0"/>
          </a:p>
        </p:txBody>
      </p:sp>
      <p:sp>
        <p:nvSpPr>
          <p:cNvPr id="37" name="Text 35"/>
          <p:cNvSpPr txBox="1"/>
          <p:nvPr/>
        </p:nvSpPr>
        <p:spPr>
          <a:xfrm>
            <a:off x="3447288" y="43708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 тестов</a:t>
            </a:r>
            <a:endParaRPr lang="en-US" sz="1900" dirty="0"/>
          </a:p>
        </p:txBody>
      </p:sp>
      <p:sp>
        <p:nvSpPr>
          <p:cNvPr id="38" name="Text 36"/>
          <p:cNvSpPr txBox="1"/>
          <p:nvPr/>
        </p:nvSpPr>
        <p:spPr>
          <a:xfrm>
            <a:off x="6208776" y="43708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идей</a:t>
            </a:r>
            <a:endParaRPr lang="en-US" sz="1900" dirty="0"/>
          </a:p>
        </p:txBody>
      </p:sp>
      <p:sp>
        <p:nvSpPr>
          <p:cNvPr id="39" name="Text 37"/>
          <p:cNvSpPr txBox="1"/>
          <p:nvPr/>
        </p:nvSpPr>
        <p:spPr>
          <a:xfrm>
            <a:off x="8970264" y="43708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</a:t>
            </a:r>
            <a:endParaRPr lang="en-US" sz="190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4754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Python: от загрузки до сигналов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3447288" y="4754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проверяют данные, метки и отсутствие утечки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6208776" y="4754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+ 6 robustness + 15 новых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8970264" y="4754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планы зафиксированы до запуска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5440680"/>
            <a:ext cx="11274552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685800" y="560527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Панель данных: пять коридоров + рыночный контекст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685800" y="589788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Курсы ЦБ с 2010 года, дневные и часовые свечи MOEX, рублёвый якорь, Brent, металлы, ставка, праздники и доступные ноги валют.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00000">
            <a:off x="10134295" y="256032"/>
            <a:ext cx="1607058" cy="538582"/>
          </a:xfrm>
          <a:prstGeom prst="rect">
            <a:avLst/>
          </a:prstGeom>
          <a:solidFill>
            <a:srgbClr val="EF3124"/>
          </a:solidFill>
          <a:ln/>
        </p:spPr>
      </p:sp>
      <p:sp>
        <p:nvSpPr>
          <p:cNvPr id="3" name="Text 1"/>
          <p:cNvSpPr txBox="1"/>
          <p:nvPr/>
        </p:nvSpPr>
        <p:spPr>
          <a:xfrm rot="-300000">
            <a:off x="10134295" y="273406"/>
            <a:ext cx="160705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АЛЬФА</a:t>
            </a:r>
            <a:endParaRPr lang="en-US" sz="1235" dirty="0"/>
          </a:p>
        </p:txBody>
      </p:sp>
      <p:sp>
        <p:nvSpPr>
          <p:cNvPr id="4" name="Text 2"/>
          <p:cNvSpPr txBox="1"/>
          <p:nvPr/>
        </p:nvSpPr>
        <p:spPr>
          <a:xfrm rot="-300000">
            <a:off x="10134295" y="507949"/>
            <a:ext cx="160705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БУДУЩЕЕ</a:t>
            </a:r>
            <a:endParaRPr lang="en-US" sz="1235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6032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находки в данных,</a:t>
            </a:r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изменившие подход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274552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453896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EF312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453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44752" y="1453896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Курсы всех пяти коридоров ЦБ считает кроссом через доллар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44752" y="1837944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Формула найдена дословно в п. 3.3 Указания 6956-У и подтверждена эмпирически: совпадение 0,01 бп при сдвиге ровно в один день, 98,8 % дат точнее 1 бп. Нога нацбанка опаздывает на сутки по регламенту, а не по рыночным причинам.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944368"/>
            <a:ext cx="11274552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5800" y="3163824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EF31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1638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44752" y="316382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Моментум на ряду ЦБ срабатывает на артефакте измерения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44752" y="354787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Автокорреляция доходностей «среднее к среднему» равна +0,25 по построению, безотносительно рынка. Первый прогон попал ровно в этот диапазон. На ценах закрытия эффект по CNY исчез полностью: +0,195 → −0,022.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654296"/>
            <a:ext cx="11274552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487375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EF312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4873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44752" y="487375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Коридор = рубль × известная нога — но не везде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444752" y="52578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UZS нога даёт 4–5 % дисперсии, для AMD 8 %, для TJS 11 %. Но для KGS 24–33 % и для KZT 30–37 %, причём с ростом горизонта доля растёт. «Пять коридоров — один актив» читается как «три из пяти».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00000">
            <a:off x="10134295" y="256032"/>
            <a:ext cx="1607058" cy="538582"/>
          </a:xfrm>
          <a:prstGeom prst="rect">
            <a:avLst/>
          </a:prstGeom>
          <a:solidFill>
            <a:srgbClr val="EF3124"/>
          </a:solidFill>
          <a:ln/>
        </p:spPr>
      </p:sp>
      <p:sp>
        <p:nvSpPr>
          <p:cNvPr id="3" name="Text 1"/>
          <p:cNvSpPr txBox="1"/>
          <p:nvPr/>
        </p:nvSpPr>
        <p:spPr>
          <a:xfrm rot="-300000">
            <a:off x="10134295" y="273406"/>
            <a:ext cx="160705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АЛЬФА</a:t>
            </a:r>
            <a:endParaRPr lang="en-US" sz="1235" dirty="0"/>
          </a:p>
        </p:txBody>
      </p:sp>
      <p:sp>
        <p:nvSpPr>
          <p:cNvPr id="4" name="Text 2"/>
          <p:cNvSpPr txBox="1"/>
          <p:nvPr/>
        </p:nvSpPr>
        <p:spPr>
          <a:xfrm rot="-300000">
            <a:off x="10134295" y="507949"/>
            <a:ext cx="160705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БУДУЩЕЕ</a:t>
            </a:r>
            <a:endParaRPr lang="en-US" sz="1235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6032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Выполненные этапы</a:t>
            </a:r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следующий честный шаг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532120" cy="5166360"/>
          </a:xfrm>
          <a:prstGeom prst="roundRect">
            <a:avLst>
              <a:gd name="adj" fmla="val 2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444752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C3F53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44475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СДЕЛАНО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901952"/>
            <a:ext cx="50749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Собрана панель пяти коридоров за 2010–2026 годы: 20 581 строка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Сохранены дневные и часовые свечи MOEX, Brent, ставка, праздники и доступные ноги валют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Сигнальный конвейер целиком: признаки, автоматическая разметка, walk-forward, модели, порог и cooldown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signals_as_of(T) и purging защищают от чтения будущего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исходных проверок + 6 robustness-проверок + 15 новых модельных идей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Новые волны: 1 545 годовых оценок и 352 665 OOT-скоров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каждого сигнала сохраняются дата, скор, признаки и причина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Весь код проходит 110 автоматических тестов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99632" y="1234440"/>
            <a:ext cx="5532120" cy="5166360"/>
          </a:xfrm>
          <a:prstGeom prst="roundRect">
            <a:avLst>
              <a:gd name="adj" fmla="val 2478"/>
            </a:avLst>
          </a:prstGeom>
          <a:solidFill>
            <a:srgbClr val="FDEAE8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28232" y="1444752"/>
            <a:ext cx="3154680" cy="310896"/>
          </a:xfrm>
          <a:prstGeom prst="roundRect">
            <a:avLst>
              <a:gd name="adj" fmla="val 50000"/>
            </a:avLst>
          </a:prstGeom>
          <a:solidFill>
            <a:srgbClr val="EF312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28232" y="144475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ГОТОВОГО ПИЛОТА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428232" y="1901952"/>
            <a:ext cx="50749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Заморозить один пайплайн и заранее записать критерии успеха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 его один раз на новых датах или внешнем hold-out без выбора победителя постфактум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Пересчитать экономику на реальном bid/ask приложения с учётом спреда, комиссии и суммы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Получить клиентские логи и проверить не только качество курса, но и реакцию на пуш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доступе добавить order flow MOEX и независимые ноги AMD/KGS/TJS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Подготовить тексты пушей, запрещённые формулировки и дизайн A/B-пилота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Закрыть h = 1/20 и собрать финальный воспроизводимый пакет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00000">
            <a:off x="10134295" y="256032"/>
            <a:ext cx="1607058" cy="538582"/>
          </a:xfrm>
          <a:prstGeom prst="rect">
            <a:avLst/>
          </a:prstGeom>
          <a:solidFill>
            <a:srgbClr val="EF3124"/>
          </a:solidFill>
          <a:ln/>
        </p:spPr>
      </p:sp>
      <p:sp>
        <p:nvSpPr>
          <p:cNvPr id="3" name="Text 1"/>
          <p:cNvSpPr txBox="1"/>
          <p:nvPr/>
        </p:nvSpPr>
        <p:spPr>
          <a:xfrm rot="-300000">
            <a:off x="10134295" y="273406"/>
            <a:ext cx="160705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АЛЬФА</a:t>
            </a:r>
            <a:endParaRPr lang="en-US" sz="1235" dirty="0"/>
          </a:p>
        </p:txBody>
      </p:sp>
      <p:sp>
        <p:nvSpPr>
          <p:cNvPr id="4" name="Text 2"/>
          <p:cNvSpPr txBox="1"/>
          <p:nvPr/>
        </p:nvSpPr>
        <p:spPr>
          <a:xfrm rot="-300000">
            <a:off x="10134295" y="507949"/>
            <a:ext cx="160705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БУДУЩЕЕ</a:t>
            </a:r>
            <a:endParaRPr lang="en-US" sz="1235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6032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перепроверки:</a:t>
            </a:r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главный кандидат — горизонт 5 дней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3246120" cy="310896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20700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ЛУЧШИЕ ПО ГОРИЗОНТАМ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9344"/>
          <a:ext cx="1127455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840480"/>
                <a:gridCol w="1005840"/>
                <a:gridCol w="914400"/>
                <a:gridCol w="1143000"/>
                <a:gridCol w="1143000"/>
                <a:gridCol w="11430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Горизонт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Коридор и модель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Сигналы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Lift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Сигн./нед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Same-week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Худший год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дня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KZT · rolling-4y CatBoost + непрерывный порог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7F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дней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AMD · собственный скор + согласие коридоров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7F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дней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KZT · собственный скор + согласие коридоров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7F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246120"/>
            <a:ext cx="3593592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5800" y="3456432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C3F53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85800" y="34564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СРАБОТАЛО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391363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Согласие коридоров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4251960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h=5 собственный скор усиливается, если похожее состояние одновременно видят остальные валюты. Это лучший новый механизм.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279392" y="3246120"/>
            <a:ext cx="3593592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07992" y="3456432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507992" y="345643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4507992" y="391363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 новые волны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507992" y="4251960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фиксированный подход, пять новых seed, вложенный выбор, placebo и четырёхнедельный bootstrap.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110728" y="3246120"/>
            <a:ext cx="3621024" cy="1874520"/>
          </a:xfrm>
          <a:prstGeom prst="roundRect">
            <a:avLst>
              <a:gd name="adj" fmla="val 6829"/>
            </a:avLst>
          </a:prstGeom>
          <a:solidFill>
            <a:srgbClr val="FDEAE8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339328" y="3456432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EF312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339328" y="345643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ВАЖНОЕ «НО»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8339328" y="391363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ещё не доказательство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339328" y="4251960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2025–2026 уже видели исследователи. Даже сильный результат требует проверки на будущих или закрытых данных банка.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5349240"/>
            <a:ext cx="11274552" cy="1051560"/>
          </a:xfrm>
          <a:prstGeom prst="roundRect">
            <a:avLst>
              <a:gd name="adj" fmla="val 12174"/>
            </a:avLst>
          </a:prstGeom>
          <a:solidFill>
            <a:srgbClr val="FDEAE8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685800" y="55321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Стресс-тест h=5 без пересекающихся окон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" y="585216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184 сигнала · raw lift 1,40 · same-week lift 1,26 · 0,80 сигнала в неделю. h=10 в этом тесте падает до 1,18 / 1,08.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00000">
            <a:off x="10134295" y="256032"/>
            <a:ext cx="1607058" cy="538582"/>
          </a:xfrm>
          <a:prstGeom prst="rect">
            <a:avLst/>
          </a:prstGeom>
          <a:solidFill>
            <a:srgbClr val="EF3124"/>
          </a:solidFill>
          <a:ln/>
        </p:spPr>
      </p:sp>
      <p:sp>
        <p:nvSpPr>
          <p:cNvPr id="3" name="Text 1"/>
          <p:cNvSpPr txBox="1"/>
          <p:nvPr/>
        </p:nvSpPr>
        <p:spPr>
          <a:xfrm rot="-300000">
            <a:off x="10134295" y="273406"/>
            <a:ext cx="160705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АЛЬФА</a:t>
            </a:r>
            <a:endParaRPr lang="en-US" sz="1235" dirty="0"/>
          </a:p>
        </p:txBody>
      </p:sp>
      <p:sp>
        <p:nvSpPr>
          <p:cNvPr id="4" name="Text 2"/>
          <p:cNvSpPr txBox="1"/>
          <p:nvPr/>
        </p:nvSpPr>
        <p:spPr>
          <a:xfrm rot="-300000">
            <a:off x="10134295" y="507949"/>
            <a:ext cx="160705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БУДУЩЕЕ</a:t>
            </a:r>
            <a:endParaRPr lang="en-US" sz="1235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6032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вывод:</a:t>
            </a:r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h=5 стоит заморозить и проверить на новых данных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53212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444752"/>
            <a:ext cx="2880360" cy="310896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44475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ИССЛЕДОВАТЕЛЬСКИЙ РЕЗУЛЬТАТ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7452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7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1,44 / 1,24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60604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/ same-week lift основного h=5 кандидата при 1,11 сигнала в неделю. Четырёхнедельный CI same-week: 1,16–1,32.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99632" y="1234440"/>
            <a:ext cx="553212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28232" y="1444752"/>
            <a:ext cx="2880360" cy="310896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28232" y="144475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СТРОГИЙ КОНТРОЛЬ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428232" y="187452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1,32 / 1,15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6428232" y="260604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/ same-week lift h=5 при последовательном выборе только по прошлым годам. Это реалистичнее максимума одной строки.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11274552" cy="1234440"/>
          </a:xfrm>
          <a:prstGeom prst="roundRect">
            <a:avLst>
              <a:gd name="adj" fmla="val 10370"/>
            </a:avLst>
          </a:prstGeom>
          <a:solidFill>
            <a:srgbClr val="FDEAE8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85800" y="37033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выдержало перепроверку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041648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Regret/triple barrier вместо точного минимума, rolling-история последних четырёх лет, CatBoost, право модели промолчать и подтверждение общего рублёвого режима другими коридорами. Исторические аналоги и сложные режимные модели не помогли.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937760"/>
            <a:ext cx="11274552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" y="5120640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C3F53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512064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ПРОДУКТОВОЕ РЕШЕНИЕ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5559552"/>
            <a:ext cx="1081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отправлять пуши по exploratory-результату. Заморозить основной h=5 consensus и контрольный rolling-4y CatBoost, проверить на новом периоде, пересчитать выгоду на курсе приложения и только затем запускать ограниченный A/B-пилот.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00000">
            <a:off x="10134295" y="256032"/>
            <a:ext cx="1607058" cy="538582"/>
          </a:xfrm>
          <a:prstGeom prst="rect">
            <a:avLst/>
          </a:prstGeom>
          <a:solidFill>
            <a:srgbClr val="EF3124"/>
          </a:solidFill>
          <a:ln/>
        </p:spPr>
      </p:sp>
      <p:sp>
        <p:nvSpPr>
          <p:cNvPr id="3" name="Text 1"/>
          <p:cNvSpPr txBox="1"/>
          <p:nvPr/>
        </p:nvSpPr>
        <p:spPr>
          <a:xfrm rot="-300000">
            <a:off x="10134295" y="273406"/>
            <a:ext cx="160705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АЛЬФА</a:t>
            </a:r>
            <a:endParaRPr lang="en-US" sz="1235" dirty="0"/>
          </a:p>
        </p:txBody>
      </p:sp>
      <p:sp>
        <p:nvSpPr>
          <p:cNvPr id="4" name="Text 2"/>
          <p:cNvSpPr txBox="1"/>
          <p:nvPr/>
        </p:nvSpPr>
        <p:spPr>
          <a:xfrm rot="-300000">
            <a:off x="10134295" y="507949"/>
            <a:ext cx="160705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БУДУЩЕЕ</a:t>
            </a:r>
            <a:endParaRPr lang="en-US" sz="1235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6032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Риски</a:t>
            </a:r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позиция по каждому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532120" cy="2377440"/>
          </a:xfrm>
          <a:prstGeom prst="roundRect">
            <a:avLst>
              <a:gd name="adj" fmla="val 5385"/>
            </a:avLst>
          </a:prstGeom>
          <a:solidFill>
            <a:srgbClr val="FDEAE8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444752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EF312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44475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РИСК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83664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уже много раз просмотрена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212848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Вложенный выбор снизил h=5 с 1,44 / 1,24 до 1,32 / 1,15. Позиция: прекратить подбор, заморозить две политики и один раз проверить их на новых датах или внешнем hold-out.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99632" y="1234440"/>
            <a:ext cx="5532120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28232" y="1444752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28232" y="14447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РАЗРЫВ С ПРОДУКТОМ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428232" y="1883664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Публичный курс ≠ курс клиента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28232" y="2212848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данных нет bid/ask приложения, спреда, комиссии и суммы перевода. Позиция: не обещать клиентскую выгоду до пересчёта на исполнимой цене; сначала подключить банковский поток в закрытом контуре.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11274552" cy="26060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977640"/>
            <a:ext cx="3017520" cy="310896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9776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ОГРАНИЧЕНИЯ РЕШЕНИЯ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43484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Вложенная оценка ниже максимума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690872"/>
            <a:ext cx="5257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Последовательный h=5: raw 1,32, same-week 1,15. Максимум 1,44 / 1,24 не равен готовому доказательству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443484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клиентских логов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4690872"/>
            <a:ext cx="5257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Нельзя проверить causal-эффект пуша, конверсию, раздражение и оптимальную частоту без пилота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539496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источников недоступна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5650992"/>
            <a:ext cx="5257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Исторический order flow MOEX требует доступа; независимые ноги AMD/KGS/TJS заблокированы сетью/TLS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539496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Новости исключены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5650992"/>
            <a:ext cx="5257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Сознательное ограничение текущего этапа: сначала проверены более дешёвые и воспроизводимые числовые факторы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00000">
            <a:off x="10134295" y="256032"/>
            <a:ext cx="1607058" cy="538582"/>
          </a:xfrm>
          <a:prstGeom prst="rect">
            <a:avLst/>
          </a:prstGeom>
          <a:solidFill>
            <a:srgbClr val="EF3124"/>
          </a:solidFill>
          <a:ln/>
        </p:spPr>
      </p:sp>
      <p:sp>
        <p:nvSpPr>
          <p:cNvPr id="3" name="Text 1"/>
          <p:cNvSpPr txBox="1"/>
          <p:nvPr/>
        </p:nvSpPr>
        <p:spPr>
          <a:xfrm rot="-300000">
            <a:off x="10134295" y="273406"/>
            <a:ext cx="160705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АЛЬФА</a:t>
            </a:r>
            <a:endParaRPr lang="en-US" sz="1235" dirty="0"/>
          </a:p>
        </p:txBody>
      </p:sp>
      <p:sp>
        <p:nvSpPr>
          <p:cNvPr id="4" name="Text 2"/>
          <p:cNvSpPr txBox="1"/>
          <p:nvPr/>
        </p:nvSpPr>
        <p:spPr>
          <a:xfrm rot="-300000">
            <a:off x="10134295" y="507949"/>
            <a:ext cx="160705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БУДУЩЕЕ</a:t>
            </a:r>
            <a:endParaRPr lang="en-US" sz="1235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6032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работ</a:t>
            </a:r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до финальной защиты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274552" cy="5166360"/>
          </a:xfrm>
          <a:prstGeom prst="roundRect">
            <a:avLst>
              <a:gd name="adj" fmla="val 2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517904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EF312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517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49961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Заморозить два h=5 пайплайна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149961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1499616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 как основной, rolling-4y CatBoost как контроль; критерии фиксируются до результата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2125980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EF31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21259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1076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Новый честный hold-out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1076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852160" y="210769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запуск на новых датах или внешней выборке без повторного выбора победителя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" y="2734056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EF312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2734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27157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 приложения и экономика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26280" y="271576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+ банк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852160" y="271576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Bid/ask, спред, комиссия, сумма; выгода и regret на реально исполнимой цене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5800" y="3342132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EF312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33421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332384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Закрыть пробелы в данных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526280" y="332384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852160" y="332384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flow MOEX и независимые ноги AMD/KGS/TJS — если кейсодатель даст доступ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5800" y="395020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EF312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5800" y="3950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" y="39319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Горизонты h = 1 и 20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526280" y="39319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852160" y="393192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Дополнить итоговую матрицу; h = 3/5/10 уже закрыты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5800" y="4558284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EF312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85800" y="45582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143000" y="453999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Тексты и защита клиента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4526280" y="453999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Продакт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852160" y="4539996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→ объяснение сигнала; запрещённые обещания и контроль частоты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85800" y="5166360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EF312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85800" y="5166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143000" y="51480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 ограниченного A/B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4526280" y="51480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Продакт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5852160" y="514807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Конверсия, выгода, отключение пушей, длительность и минимальный размер выборки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85800" y="5774436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EF3124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85800" y="57744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1143000" y="57561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Финальный пакет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4526280" y="575614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5852160" y="575614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Демо, инструкция запуска, ограничения, презентация и воспроизводимые таблицы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00000">
            <a:off x="10134295" y="256032"/>
            <a:ext cx="1607058" cy="538582"/>
          </a:xfrm>
          <a:prstGeom prst="rect">
            <a:avLst/>
          </a:prstGeom>
          <a:solidFill>
            <a:srgbClr val="EF3124"/>
          </a:solidFill>
          <a:ln/>
        </p:spPr>
      </p:sp>
      <p:sp>
        <p:nvSpPr>
          <p:cNvPr id="3" name="Text 1"/>
          <p:cNvSpPr txBox="1"/>
          <p:nvPr/>
        </p:nvSpPr>
        <p:spPr>
          <a:xfrm rot="-300000">
            <a:off x="10134295" y="273406"/>
            <a:ext cx="160705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АЛЬФА</a:t>
            </a:r>
            <a:endParaRPr lang="en-US" sz="1235" dirty="0"/>
          </a:p>
        </p:txBody>
      </p:sp>
      <p:sp>
        <p:nvSpPr>
          <p:cNvPr id="4" name="Text 2"/>
          <p:cNvSpPr txBox="1"/>
          <p:nvPr/>
        </p:nvSpPr>
        <p:spPr>
          <a:xfrm rot="-300000">
            <a:off x="10134295" y="507949"/>
            <a:ext cx="160705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БУДУЩЕЕ</a:t>
            </a:r>
            <a:endParaRPr lang="en-US" sz="1235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6032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</a:t>
            </a:r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распределение задач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611880" cy="5166360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44475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Немкин Кирилл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178308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C3F53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78308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PRODUCT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21284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Постановка и дерево гипотез, работа с кейсодателем, обзор смежных отраслей, продуктовые ограничения для ML, документация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12724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Ключевое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401568"/>
            <a:ext cx="31546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Замер премиссы кейса: 9,40 % и 2,79 % воспроизведены до второго знака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Разложение дисперсии коридоров — вскрыло, что вывод «один актив» верен для трёх из пяти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 базовых частот по горизонтам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Отказ от механик с оплатой удержания цены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" y="5486400"/>
            <a:ext cx="3154680" cy="713232"/>
          </a:xfrm>
          <a:prstGeom prst="roundRect">
            <a:avLst>
              <a:gd name="adj" fmla="val 12821"/>
            </a:avLst>
          </a:prstGeom>
          <a:solidFill>
            <a:srgbClr val="EBEBE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55778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Полная занятость. Сейчас: тексты пушей, план пилота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88536" y="1234440"/>
            <a:ext cx="3611880" cy="5166360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517136" y="144475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Сырых Ольга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17136" y="178308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C3F5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17136" y="178308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И ML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17136" y="221284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Каркас репозитория, загрузка и кэширование данных, воспроизводимый ML-конвейер и расширенный эксперимент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17136" y="312724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Ключевое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17136" y="3401568"/>
            <a:ext cx="31546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Панель пяти коридоров и автоматическая разметка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исходных + 21 новая модельная проверка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replay, nested selection, placebo и block bootstrap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signals_as_of(T), защита от утечки и 110 тестов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17136" y="5486400"/>
            <a:ext cx="3154680" cy="713232"/>
          </a:xfrm>
          <a:prstGeom prst="roundRect">
            <a:avLst>
              <a:gd name="adj" fmla="val 12821"/>
            </a:avLst>
          </a:prstGeom>
          <a:solidFill>
            <a:srgbClr val="EBEBE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54296" y="55778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Полная занятость. Сейчас: заморозка h=5 кандидатов, hold-out и финальный отчёт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19872" y="1234440"/>
            <a:ext cx="3611880" cy="5166360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348472" y="144475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Бикинеев Амир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48472" y="178308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C3F53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348472" y="178308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348472" y="221284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класса моделей с приоритетом интерпретируемости, метрики качества сигнала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348472" y="312724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Ключевое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348472" y="3401568"/>
            <a:ext cx="31546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Regret-бенчмарк вместо строгой метки минимума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Dual-regret политика как основная гипотеза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Matched-random baseline — забраковал лучшую модель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Исправление переноса порога между OOF и refit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348472" y="5486400"/>
            <a:ext cx="3154680" cy="713232"/>
          </a:xfrm>
          <a:prstGeom prst="roundRect">
            <a:avLst>
              <a:gd name="adj" fmla="val 12821"/>
            </a:avLst>
          </a:prstGeom>
          <a:solidFill>
            <a:srgbClr val="EBEBE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485632" y="55778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Полная занятость. Сейчас: проверка устойчивости и финальный выбор кандидата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6C2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00000">
            <a:off x="502920" y="365760"/>
            <a:ext cx="1945386" cy="651967"/>
          </a:xfrm>
          <a:prstGeom prst="rect">
            <a:avLst/>
          </a:prstGeom>
          <a:solidFill>
            <a:srgbClr val="EF3124"/>
          </a:solidFill>
          <a:ln/>
        </p:spPr>
      </p:sp>
      <p:sp>
        <p:nvSpPr>
          <p:cNvPr id="3" name="Text 1"/>
          <p:cNvSpPr txBox="1"/>
          <p:nvPr/>
        </p:nvSpPr>
        <p:spPr>
          <a:xfrm rot="-300000">
            <a:off x="502920" y="386791"/>
            <a:ext cx="194538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АЛЬФА</a:t>
            </a:r>
            <a:endParaRPr lang="en-US" sz="1495" dirty="0"/>
          </a:p>
        </p:txBody>
      </p:sp>
      <p:sp>
        <p:nvSpPr>
          <p:cNvPr id="4" name="Text 2"/>
          <p:cNvSpPr txBox="1"/>
          <p:nvPr/>
        </p:nvSpPr>
        <p:spPr>
          <a:xfrm rot="-300000">
            <a:off x="502920" y="670712"/>
            <a:ext cx="194538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БУДУЩЕЕ</a:t>
            </a:r>
            <a:endParaRPr lang="en-US" sz="1495" dirty="0"/>
          </a:p>
        </p:txBody>
      </p:sp>
      <p:sp>
        <p:nvSpPr>
          <p:cNvPr id="5" name="Shape 3"/>
          <p:cNvSpPr/>
          <p:nvPr/>
        </p:nvSpPr>
        <p:spPr>
          <a:xfrm>
            <a:off x="10088575" y="384048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EF312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88575" y="3840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Альфа Банк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9184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Вопросы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52120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github.com/ne-olya/fx-pulse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2026-09-04T04:13:07Z</dcterms:created>
  <dcterms:modified xsi:type="dcterms:W3CDTF">2026-09-04T04:13:07Z</dcterms:modified>
</cp:coreProperties>
</file>