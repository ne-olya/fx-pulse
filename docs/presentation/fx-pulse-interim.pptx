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Мы не оспариваем постановку — мы воспроизвели её число её же методом и разложили на компоненты.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Находка 1 — наш главный дифференциатор: мы показываем механизм, а не только метрику.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C2B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00000">
            <a:off x="502920" y="365760"/>
            <a:ext cx="1945386" cy="651967"/>
          </a:xfrm>
          <a:prstGeom prst="rect">
            <a:avLst/>
          </a:prstGeom>
          <a:solidFill>
            <a:srgbClr val="EF3124"/>
          </a:solidFill>
          <a:ln/>
        </p:spPr>
      </p:sp>
      <p:sp>
        <p:nvSpPr>
          <p:cNvPr id="3" name="Text 1"/>
          <p:cNvSpPr txBox="1"/>
          <p:nvPr/>
        </p:nvSpPr>
        <p:spPr>
          <a:xfrm rot="-300000">
            <a:off x="502920" y="386791"/>
            <a:ext cx="194538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</a:t>
            </a:r>
            <a:endParaRPr lang="en-US" sz="1495" dirty="0"/>
          </a:p>
        </p:txBody>
      </p:sp>
      <p:sp>
        <p:nvSpPr>
          <p:cNvPr id="4" name="Text 2"/>
          <p:cNvSpPr txBox="1"/>
          <p:nvPr/>
        </p:nvSpPr>
        <p:spPr>
          <a:xfrm rot="-300000">
            <a:off x="502920" y="670712"/>
            <a:ext cx="194538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БУДУЩЕЕ</a:t>
            </a:r>
            <a:endParaRPr lang="en-US" sz="1495" dirty="0"/>
          </a:p>
        </p:txBody>
      </p:sp>
      <p:sp>
        <p:nvSpPr>
          <p:cNvPr id="5" name="Shape 3"/>
          <p:cNvSpPr/>
          <p:nvPr/>
        </p:nvSpPr>
        <p:spPr>
          <a:xfrm>
            <a:off x="10088575" y="384048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EF312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088575" y="38404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 Банк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291840"/>
            <a:ext cx="10424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Триггерная модель</a:t>
            </a:r>
            <a:endParaRPr lang="en-US" sz="4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трансграничных переводов</a:t>
            </a:r>
            <a:endParaRPr lang="en-US" sz="46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516636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4D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Промежуточная версия проекта · 4 сентября 2026 · репозиторий github.com/ne-olya/fx-pulse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562356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Немкин Кирилл — AI Product  ·  Сырых Ольга — данные и ML  ·  Бикинеев Амир — ML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BE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00000">
            <a:off x="10134295" y="256032"/>
            <a:ext cx="1607058" cy="538582"/>
          </a:xfrm>
          <a:prstGeom prst="rect">
            <a:avLst/>
          </a:prstGeom>
          <a:solidFill>
            <a:srgbClr val="EF3124"/>
          </a:solidFill>
          <a:ln/>
        </p:spPr>
      </p:sp>
      <p:sp>
        <p:nvSpPr>
          <p:cNvPr id="3" name="Text 1"/>
          <p:cNvSpPr txBox="1"/>
          <p:nvPr/>
        </p:nvSpPr>
        <p:spPr>
          <a:xfrm rot="-300000">
            <a:off x="10134295" y="273406"/>
            <a:ext cx="1607058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</a:t>
            </a:r>
            <a:endParaRPr lang="en-US" sz="1235" dirty="0"/>
          </a:p>
        </p:txBody>
      </p:sp>
      <p:sp>
        <p:nvSpPr>
          <p:cNvPr id="4" name="Text 2"/>
          <p:cNvSpPr txBox="1"/>
          <p:nvPr/>
        </p:nvSpPr>
        <p:spPr>
          <a:xfrm rot="-300000">
            <a:off x="10134295" y="507949"/>
            <a:ext cx="1607058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БУДУЩЕЕ</a:t>
            </a:r>
            <a:endParaRPr lang="en-US" sz="1235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56032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Проблематика:</a:t>
            </a:r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клиент выбирает день вслепую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553212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85800" y="1444752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DEA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44475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КЛИЕНТ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883664"/>
            <a:ext cx="5074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«День перевода я выбираю каждый раз заново» — но курс в приложении это сегодняшняя цифра без системы отсчёта. Хорошая она или плохая относительно последних месяцев, знает только тот, кто следит за курсом ежедневно.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99632" y="1234440"/>
            <a:ext cx="553212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28232" y="1444752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C3F53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28232" y="144475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БАНК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428232" y="1883664"/>
            <a:ext cx="5074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Даём то, чего у клиента нет, — ежедневное внимание к рынку. Отсюда эффект: больше переводов через нас, выше доля кошелька. Канал один — пуш, и он жёстко лимитирован.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11274552" cy="2999232"/>
          </a:xfrm>
          <a:prstGeom prst="roundRect">
            <a:avLst>
              <a:gd name="adj" fmla="val 42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85800" y="3611880"/>
            <a:ext cx="3200400" cy="310896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361188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НАШ ЗАМЕР НА ДАННЫХ ЦБ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4069080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9,40 %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4727448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максимальный размах курса RUB→TJS внутри месяца. Минимум 2,79 % — оба числа совпали с постановкой до второго знака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206240" y="4069080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6,08 %</a:t>
            </a:r>
            <a:endParaRPr lang="en-US" sz="3400" dirty="0"/>
          </a:p>
        </p:txBody>
      </p:sp>
      <p:sp>
        <p:nvSpPr>
          <p:cNvPr id="20" name="Text 18"/>
          <p:cNvSpPr txBox="1"/>
          <p:nvPr/>
        </p:nvSpPr>
        <p:spPr>
          <a:xfrm>
            <a:off x="4206240" y="4727448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 этого размаха даёт рублёвая часть — рыночная и непредсказуемая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4069080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1,24 %</a:t>
            </a:r>
            <a:endParaRPr lang="en-US" sz="3400" dirty="0"/>
          </a:p>
        </p:txBody>
      </p:sp>
      <p:sp>
        <p:nvSpPr>
          <p:cNvPr id="22" name="Text 20"/>
          <p:cNvSpPr txBox="1"/>
          <p:nvPr/>
        </p:nvSpPr>
        <p:spPr>
          <a:xfrm>
            <a:off x="7726680" y="4727448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даёт нога нацбанка — административная и известная на день вперёд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85800" y="5715000"/>
            <a:ext cx="10817352" cy="530352"/>
          </a:xfrm>
          <a:prstGeom prst="roundRect">
            <a:avLst>
              <a:gd name="adj" fmla="val 20690"/>
            </a:avLst>
          </a:prstGeom>
          <a:solidFill>
            <a:srgbClr val="FDEAE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68680" y="5715000"/>
            <a:ext cx="10424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Боль, которую описывает кейс, на пять шестых состоит из волатильности рубля, а не валюты получателя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BE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00000">
            <a:off x="10134295" y="256032"/>
            <a:ext cx="1607058" cy="538582"/>
          </a:xfrm>
          <a:prstGeom prst="rect">
            <a:avLst/>
          </a:prstGeom>
          <a:solidFill>
            <a:srgbClr val="EF3124"/>
          </a:solidFill>
          <a:ln/>
        </p:spPr>
      </p:sp>
      <p:sp>
        <p:nvSpPr>
          <p:cNvPr id="3" name="Text 1"/>
          <p:cNvSpPr txBox="1"/>
          <p:nvPr/>
        </p:nvSpPr>
        <p:spPr>
          <a:xfrm rot="-300000">
            <a:off x="10134295" y="273406"/>
            <a:ext cx="1607058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</a:t>
            </a:r>
            <a:endParaRPr lang="en-US" sz="1235" dirty="0"/>
          </a:p>
        </p:txBody>
      </p:sp>
      <p:sp>
        <p:nvSpPr>
          <p:cNvPr id="4" name="Text 2"/>
          <p:cNvSpPr txBox="1"/>
          <p:nvPr/>
        </p:nvSpPr>
        <p:spPr>
          <a:xfrm rot="-300000">
            <a:off x="10134295" y="507949"/>
            <a:ext cx="1607058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БУДУЩЕЕ</a:t>
            </a:r>
            <a:endParaRPr lang="en-US" sz="1235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56032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Постановка:</a:t>
            </a:r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сигнал обязан быть информативнее случайного дня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11274552" cy="841248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85800" y="1234440"/>
            <a:ext cx="108173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«Построить и откалибровать сигнальный слой, который отвечает на вопрос „сегодня подходящий момент, чтобы подсказать клиенту перевод в эту страну?“ — и доказать метриками, что сигнал информативнее случайного дня»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286000"/>
            <a:ext cx="3602736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85800" y="2450592"/>
            <a:ext cx="3145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lift ≥ 1,3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063240"/>
            <a:ext cx="31455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над случайным днём, по точности (hit rate). Устойчиво = на нескольких коридорах и на out-of-time окнах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79392" y="2286000"/>
            <a:ext cx="3602736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507992" y="2450592"/>
            <a:ext cx="3145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1–2 сигнала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507992" y="3063240"/>
            <a:ext cx="31455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коридор в неделю. Равномерный поток без серий и пустых месяцев — кучность меряется отдельно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101584" y="2286000"/>
            <a:ext cx="3602736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330184" y="2450592"/>
            <a:ext cx="3145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1/3/5/10/20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8330184" y="3063240"/>
            <a:ext cx="31455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дней — горизонты проверки. Главный не выделен: метрики нужны по всем пяти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4187952"/>
            <a:ext cx="5532120" cy="1051560"/>
          </a:xfrm>
          <a:prstGeom prst="roundRect">
            <a:avLst>
              <a:gd name="adj" fmla="val 12174"/>
            </a:avLst>
          </a:prstGeom>
          <a:solidFill>
            <a:srgbClr val="FDEAE8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85800" y="4370832"/>
            <a:ext cx="5074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Дисквалификация — заглядывание вперёд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4681728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Сигнал на дату T считается только по данным на T. Код обязан считать сигналы на произвольную дату среза.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99632" y="4187952"/>
            <a:ext cx="553212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428232" y="4370832"/>
            <a:ext cx="5074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Фокус — триггерные коммуникации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28232" y="4681728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Проверяем чистый эффект информационного триггера. Триггерное ценообразование — скидки и надбавки в спреде — вне нашего направления.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5440680"/>
            <a:ext cx="11274552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85800" y="560527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кейсодатель отдал командам как допущение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589788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Горизонт, порог выгоды, окно расчёта, портрет клиента, поведение в тихий месяц, ограничения канала. «Решения оцениваются на уровне выводов, а не допущений» — каждое наше допущение зафиксировано письменно.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BE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00000">
            <a:off x="10134295" y="256032"/>
            <a:ext cx="1607058" cy="538582"/>
          </a:xfrm>
          <a:prstGeom prst="rect">
            <a:avLst/>
          </a:prstGeom>
          <a:solidFill>
            <a:srgbClr val="EF3124"/>
          </a:solidFill>
          <a:ln/>
        </p:spPr>
      </p:sp>
      <p:sp>
        <p:nvSpPr>
          <p:cNvPr id="3" name="Text 1"/>
          <p:cNvSpPr txBox="1"/>
          <p:nvPr/>
        </p:nvSpPr>
        <p:spPr>
          <a:xfrm rot="-300000">
            <a:off x="10134295" y="273406"/>
            <a:ext cx="1607058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</a:t>
            </a:r>
            <a:endParaRPr lang="en-US" sz="1235" dirty="0"/>
          </a:p>
        </p:txBody>
      </p:sp>
      <p:sp>
        <p:nvSpPr>
          <p:cNvPr id="4" name="Text 2"/>
          <p:cNvSpPr txBox="1"/>
          <p:nvPr/>
        </p:nvSpPr>
        <p:spPr>
          <a:xfrm rot="-300000">
            <a:off x="10134295" y="507949"/>
            <a:ext cx="1607058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БУДУЩЕЕ</a:t>
            </a:r>
            <a:endParaRPr lang="en-US" sz="1235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56032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Подход:</a:t>
            </a:r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дерево гипотез с заранее объявленной развилкой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593592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85800" y="1417320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C3F53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4173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H0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82880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Продуктовая гипотеза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157984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Проблему решает сигнальный слой: банк берёт на себя ежедневное внимание к рынку и сообщает клиенту факт о курсе. Решение клиент принимает сам.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79392" y="1234440"/>
            <a:ext cx="3593592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07992" y="1417320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C3F53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07992" y="14173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507992" y="182880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Техническая гипотеза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07992" y="2157984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Можно построить модель под метрики кейса: устойчивый lift ≥ 1,3, выгода значимо больше нуля, частота 1–2 в неделю, приемлемая кучность.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10728" y="1234440"/>
            <a:ext cx="3621024" cy="2148840"/>
          </a:xfrm>
          <a:prstGeom prst="roundRect">
            <a:avLst>
              <a:gd name="adj" fmla="val 5957"/>
            </a:avLst>
          </a:prstGeom>
          <a:solidFill>
            <a:srgbClr val="FDEAE8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39328" y="1417320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EF31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39328" y="141732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H1′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339328" y="182880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Ответвление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339328" y="2157984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Если H1 не подтвердится — отсечка по стоимости: клиент сам задаёт курс. Так работают Wise, XE и Revolut. Предсказуемость курса не требуется вообще.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3566160"/>
            <a:ext cx="11274552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85800" y="3566160"/>
            <a:ext cx="10817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Разделение продуктовой и технической гипотез сделано намеренно: отрицательный результат по модели не обнуляет продуктовую работу. Именно так и вышло.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57200" y="4407408"/>
            <a:ext cx="11274552" cy="1993392"/>
          </a:xfrm>
          <a:prstGeom prst="roundRect">
            <a:avLst>
              <a:gd name="adj" fmla="val 64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85800" y="4590288"/>
            <a:ext cx="4206240" cy="310896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85800" y="459028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ВСПОМОГАТЕЛЬНЫЕ ГИПОТЕЗЫ ВНУТРИ H1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85800" y="504748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Regret / triple barrier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685800" y="529437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рабочая цель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3447288" y="504748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Длинная история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3447288" y="529437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помогла h = 5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6208776" y="504748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Selective prediction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6208776" y="529437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нужная частота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8970264" y="504748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Режимы / GARCH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8970264" y="529437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сигнал слишком редок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685800" y="565099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Внешние факторы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685800" y="58978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Brent полезен локально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3447288" y="565099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Pooled-коридоры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3447288" y="58978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общей прибавки нет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08776" y="565099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Правила / meta-labeling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6208776" y="58978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уступили бустингу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8970264" y="565099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Аномалии / календарь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8970264" y="58978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общей прибавки нет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BE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00000">
            <a:off x="10134295" y="256032"/>
            <a:ext cx="1607058" cy="538582"/>
          </a:xfrm>
          <a:prstGeom prst="rect">
            <a:avLst/>
          </a:prstGeom>
          <a:solidFill>
            <a:srgbClr val="EF3124"/>
          </a:solidFill>
          <a:ln/>
        </p:spPr>
      </p:sp>
      <p:sp>
        <p:nvSpPr>
          <p:cNvPr id="3" name="Text 1"/>
          <p:cNvSpPr txBox="1"/>
          <p:nvPr/>
        </p:nvSpPr>
        <p:spPr>
          <a:xfrm rot="-300000">
            <a:off x="10134295" y="273406"/>
            <a:ext cx="1607058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</a:t>
            </a:r>
            <a:endParaRPr lang="en-US" sz="1235" dirty="0"/>
          </a:p>
        </p:txBody>
      </p:sp>
      <p:sp>
        <p:nvSpPr>
          <p:cNvPr id="4" name="Text 2"/>
          <p:cNvSpPr txBox="1"/>
          <p:nvPr/>
        </p:nvSpPr>
        <p:spPr>
          <a:xfrm rot="-300000">
            <a:off x="10134295" y="507949"/>
            <a:ext cx="1607058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БУДУЩЕЕ</a:t>
            </a:r>
            <a:endParaRPr lang="en-US" sz="1235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56032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Схема решения:</a:t>
            </a:r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конвейер с границей информационного множества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1563624" cy="603504"/>
          </a:xfrm>
          <a:prstGeom prst="chevron">
            <a:avLst/>
          </a:prstGeom>
          <a:solidFill>
            <a:srgbClr val="EF312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280160"/>
            <a:ext cx="12527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Загрузка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075688" y="1280160"/>
            <a:ext cx="1563624" cy="603504"/>
          </a:xfrm>
          <a:prstGeom prst="chevron">
            <a:avLst/>
          </a:prstGeom>
          <a:solidFill>
            <a:srgbClr val="EF31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258568" y="1280160"/>
            <a:ext cx="12527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Панель known_at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694176" y="1280160"/>
            <a:ext cx="1563624" cy="603504"/>
          </a:xfrm>
          <a:prstGeom prst="chevron">
            <a:avLst/>
          </a:prstGeom>
          <a:solidFill>
            <a:srgbClr val="EF31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877056" y="1280160"/>
            <a:ext cx="12527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Индикаторы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312664" y="1280160"/>
            <a:ext cx="1563624" cy="603504"/>
          </a:xfrm>
          <a:prstGeom prst="chevron">
            <a:avLst/>
          </a:prstGeom>
          <a:solidFill>
            <a:srgbClr val="EF31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95544" y="1280160"/>
            <a:ext cx="12527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Разметка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931152" y="1280160"/>
            <a:ext cx="1563624" cy="603504"/>
          </a:xfrm>
          <a:prstGeom prst="chevron">
            <a:avLst/>
          </a:prstGeom>
          <a:solidFill>
            <a:srgbClr val="EF31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14032" y="1280160"/>
            <a:ext cx="12527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Walk-forward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549640" y="1280160"/>
            <a:ext cx="1563624" cy="603504"/>
          </a:xfrm>
          <a:prstGeom prst="chevron">
            <a:avLst/>
          </a:prstGeom>
          <a:solidFill>
            <a:srgbClr val="EF312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732520" y="1280160"/>
            <a:ext cx="12527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Перебор сетки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0168128" y="1280160"/>
            <a:ext cx="1563624" cy="603504"/>
          </a:xfrm>
          <a:prstGeom prst="chevron">
            <a:avLst/>
          </a:prstGeom>
          <a:solidFill>
            <a:srgbClr val="EF312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0351008" y="1280160"/>
            <a:ext cx="12527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signals_as_of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7200" y="2148840"/>
            <a:ext cx="365760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85800" y="2331720"/>
            <a:ext cx="2468880" cy="310896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5800" y="233172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ЗАЩИТА ОТ УТЕЧКИ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274320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signals_as_of(T)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3054096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Строит панель с as_of = T и падает, если хоть одна строка имеет known_at &gt; T. Скрытого чтения глобального датасета нет.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279392" y="2148840"/>
            <a:ext cx="365760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07992" y="233172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507992" y="233172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ВАЛИДАЦИЯ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4507992" y="274320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Walk-forward + purging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4507992" y="3054096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Расширяющееся поквартальное окно. Перед каждым тестовым кварталом из обучения удаляются 20 последних сессий: их длинная метка ещё не известна.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092440" y="2148840"/>
            <a:ext cx="3639312" cy="1874520"/>
          </a:xfrm>
          <a:prstGeom prst="roundRect">
            <a:avLst>
              <a:gd name="adj" fmla="val 6829"/>
            </a:avLst>
          </a:prstGeom>
          <a:solidFill>
            <a:srgbClr val="FDEAE8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321040" y="2331720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EF312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321040" y="2331720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СТРОЖЕ ПОСТАНОВКИ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8321040" y="274320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Matched-random baseline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3054096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Сравнение не с базовой частотой, а со случайной политикой, дающей столько же сообщений в тех же неделях.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4206240"/>
            <a:ext cx="11274552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36" name="Text 34"/>
          <p:cNvSpPr txBox="1"/>
          <p:nvPr/>
        </p:nvSpPr>
        <p:spPr>
          <a:xfrm>
            <a:off x="685800" y="437083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модулей</a:t>
            </a:r>
            <a:endParaRPr lang="en-US" sz="1900" dirty="0"/>
          </a:p>
        </p:txBody>
      </p:sp>
      <p:sp>
        <p:nvSpPr>
          <p:cNvPr id="37" name="Text 35"/>
          <p:cNvSpPr txBox="1"/>
          <p:nvPr/>
        </p:nvSpPr>
        <p:spPr>
          <a:xfrm>
            <a:off x="3447288" y="437083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101 тест</a:t>
            </a:r>
            <a:endParaRPr lang="en-US" sz="1900" dirty="0"/>
          </a:p>
        </p:txBody>
      </p:sp>
      <p:sp>
        <p:nvSpPr>
          <p:cNvPr id="38" name="Text 36"/>
          <p:cNvSpPr txBox="1"/>
          <p:nvPr/>
        </p:nvSpPr>
        <p:spPr>
          <a:xfrm>
            <a:off x="6208776" y="437083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 проверок</a:t>
            </a:r>
            <a:endParaRPr lang="en-US" sz="1900" dirty="0"/>
          </a:p>
        </p:txBody>
      </p:sp>
      <p:sp>
        <p:nvSpPr>
          <p:cNvPr id="39" name="Text 37"/>
          <p:cNvSpPr txBox="1"/>
          <p:nvPr/>
        </p:nvSpPr>
        <p:spPr>
          <a:xfrm>
            <a:off x="8970264" y="437083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SHA-256</a:t>
            </a:r>
            <a:endParaRPr lang="en-US" sz="1900" dirty="0"/>
          </a:p>
        </p:txBody>
      </p:sp>
      <p:sp>
        <p:nvSpPr>
          <p:cNvPr id="40" name="Text 38"/>
          <p:cNvSpPr txBox="1"/>
          <p:nvPr/>
        </p:nvSpPr>
        <p:spPr>
          <a:xfrm>
            <a:off x="685800" y="4754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Python: от загрузки до сигналов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3447288" y="4754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проверяют данные, метки и отсутствие утечки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6208776" y="4754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таблиц, 13 379 вариантов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8970264" y="4754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хеш конфига хранится с результатом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57200" y="5440680"/>
            <a:ext cx="11274552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685800" y="560527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Панель данных: пять коридоров + рыночный контекст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685800" y="589788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Курсы ЦБ с 2010 года, дневные и часовые свечи MOEX, рублёвый якорь, Brent, металлы, ставка, праздники и доступные ноги валют.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BE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00000">
            <a:off x="10134295" y="256032"/>
            <a:ext cx="1607058" cy="538582"/>
          </a:xfrm>
          <a:prstGeom prst="rect">
            <a:avLst/>
          </a:prstGeom>
          <a:solidFill>
            <a:srgbClr val="EF3124"/>
          </a:solidFill>
          <a:ln/>
        </p:spPr>
      </p:sp>
      <p:sp>
        <p:nvSpPr>
          <p:cNvPr id="3" name="Text 1"/>
          <p:cNvSpPr txBox="1"/>
          <p:nvPr/>
        </p:nvSpPr>
        <p:spPr>
          <a:xfrm rot="-300000">
            <a:off x="10134295" y="273406"/>
            <a:ext cx="1607058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</a:t>
            </a:r>
            <a:endParaRPr lang="en-US" sz="1235" dirty="0"/>
          </a:p>
        </p:txBody>
      </p:sp>
      <p:sp>
        <p:nvSpPr>
          <p:cNvPr id="4" name="Text 2"/>
          <p:cNvSpPr txBox="1"/>
          <p:nvPr/>
        </p:nvSpPr>
        <p:spPr>
          <a:xfrm rot="-300000">
            <a:off x="10134295" y="507949"/>
            <a:ext cx="1607058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БУДУЩЕЕ</a:t>
            </a:r>
            <a:endParaRPr lang="en-US" sz="1235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56032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 находки в данных,</a:t>
            </a:r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изменившие подход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11274552" cy="1572768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85800" y="1453896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EF312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453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444752" y="1453896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Курсы всех пяти коридоров ЦБ считает кроссом через доллар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444752" y="1837944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Формула найдена дословно в п. 3.3 Указания 6956-У и подтверждена эмпирически: совпадение 0,01 бп при сдвиге ровно в один день, 98,8 % дат точнее 1 бп. Нога нацбанка опаздывает на сутки по регламенту, а не по рыночным причинам.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2944368"/>
            <a:ext cx="11274552" cy="1572768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85800" y="3163824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EF31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5800" y="316382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444752" y="316382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Моментум на ряду ЦБ срабатывает на артефакте измерения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44752" y="3547872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Автокорреляция доходностей «среднее к среднему» равна +0,25 по построению, безотносительно рынка. Первый прогон попал ровно в этот диапазон. На ценах закрытия эффект по CNY исчез полностью: +0,195 → −0,022.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4654296"/>
            <a:ext cx="11274552" cy="1572768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85800" y="48737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EF31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5800" y="48737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444752" y="4873752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Коридор = рубль × известная нога — но не везде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444752" y="525780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UZS нога даёт 4–5 % дисперсии, для AMD 8 %, для TJS 11 %. Но для KGS 24–33 % и для KZT 30–37 %, причём с ростом горизонта доля растёт. «Пять коридоров — один актив» читается как «три из пяти».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BE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00000">
            <a:off x="10134295" y="256032"/>
            <a:ext cx="1607058" cy="538582"/>
          </a:xfrm>
          <a:prstGeom prst="rect">
            <a:avLst/>
          </a:prstGeom>
          <a:solidFill>
            <a:srgbClr val="EF3124"/>
          </a:solidFill>
          <a:ln/>
        </p:spPr>
      </p:sp>
      <p:sp>
        <p:nvSpPr>
          <p:cNvPr id="3" name="Text 1"/>
          <p:cNvSpPr txBox="1"/>
          <p:nvPr/>
        </p:nvSpPr>
        <p:spPr>
          <a:xfrm rot="-300000">
            <a:off x="10134295" y="273406"/>
            <a:ext cx="1607058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</a:t>
            </a:r>
            <a:endParaRPr lang="en-US" sz="1235" dirty="0"/>
          </a:p>
        </p:txBody>
      </p:sp>
      <p:sp>
        <p:nvSpPr>
          <p:cNvPr id="4" name="Text 2"/>
          <p:cNvSpPr txBox="1"/>
          <p:nvPr/>
        </p:nvSpPr>
        <p:spPr>
          <a:xfrm rot="-300000">
            <a:off x="10134295" y="507949"/>
            <a:ext cx="1607058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БУДУЩЕЕ</a:t>
            </a:r>
            <a:endParaRPr lang="en-US" sz="1235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56032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Выполненные этапы</a:t>
            </a:r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и следующий честный шаг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5532120" cy="5166360"/>
          </a:xfrm>
          <a:prstGeom prst="roundRect">
            <a:avLst>
              <a:gd name="adj" fmla="val 24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85800" y="1444752"/>
            <a:ext cx="2011680" cy="310896"/>
          </a:xfrm>
          <a:prstGeom prst="roundRect">
            <a:avLst>
              <a:gd name="adj" fmla="val 50000"/>
            </a:avLst>
          </a:prstGeom>
          <a:solidFill>
            <a:srgbClr val="C3F53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44475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СДЕЛАНО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901952"/>
            <a:ext cx="50749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Собрана панель пяти коридоров за 2010–2026 годы: 20 581 строка</a:t>
            </a:r>
            <a:endParaRPr lang="en-US" sz="115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Сохранены дневные и часовые свечи MOEX, Brent, ставка, праздники и доступные ноги валют</a:t>
            </a:r>
            <a:endParaRPr lang="en-US" sz="115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Сигнальный конвейер целиком: признаки, автоматическая разметка, walk-forward, модели, порог и cooldown</a:t>
            </a:r>
            <a:endParaRPr lang="en-US" sz="115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signals_as_of(T) и purging защищают от чтения будущего</a:t>
            </a:r>
            <a:endParaRPr lang="en-US" sz="115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Закрыто 39 крупных проверок: 25 таблиц и 13 379 сравнимых вариантов</a:t>
            </a:r>
            <a:endParaRPr lang="en-US" sz="115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Проверены горизонты 3/5/10 дней, пять коридоров, правила, бустинги, режимы, GARCH и abstention</a:t>
            </a:r>
            <a:endParaRPr lang="en-US" sz="115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каждого сигнала сохраняются дата, скор, признаки и причина</a:t>
            </a:r>
            <a:endParaRPr lang="en-US" sz="115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Весь код проходит 101 автоматический тест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99632" y="1234440"/>
            <a:ext cx="5532120" cy="5166360"/>
          </a:xfrm>
          <a:prstGeom prst="roundRect">
            <a:avLst>
              <a:gd name="adj" fmla="val 2478"/>
            </a:avLst>
          </a:prstGeom>
          <a:solidFill>
            <a:srgbClr val="FDEAE8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28232" y="1444752"/>
            <a:ext cx="3154680" cy="310896"/>
          </a:xfrm>
          <a:prstGeom prst="roundRect">
            <a:avLst>
              <a:gd name="adj" fmla="val 50000"/>
            </a:avLst>
          </a:prstGeom>
          <a:solidFill>
            <a:srgbClr val="EF31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28232" y="144475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 ГОТОВОГО ПИЛОТА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428232" y="1901952"/>
            <a:ext cx="50749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Заморозить один пайплайн и заранее записать критерии успеха</a:t>
            </a:r>
            <a:endParaRPr lang="en-US" sz="115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Проверить его один раз на новых датах или внешнем hold-out без выбора победителя постфактум</a:t>
            </a:r>
            <a:endParaRPr lang="en-US" sz="115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Пересчитать экономику на реальном bid/ask приложения с учётом спреда, комиссии и суммы</a:t>
            </a:r>
            <a:endParaRPr lang="en-US" sz="115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Получить клиентские логи и проверить не только качество курса, но и реакцию на пуш</a:t>
            </a:r>
            <a:endParaRPr lang="en-US" sz="115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 доступе добавить order flow MOEX и независимые ноги AMD/KGS/TJS</a:t>
            </a:r>
            <a:endParaRPr lang="en-US" sz="115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Подготовить тексты пушей, запрещённые формулировки и дизайн A/B-пилота</a:t>
            </a:r>
            <a:endParaRPr lang="en-US" sz="115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Закрыть h = 1/20 и собрать финальный воспроизводимый пакет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BE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00000">
            <a:off x="10134295" y="256032"/>
            <a:ext cx="1607058" cy="538582"/>
          </a:xfrm>
          <a:prstGeom prst="rect">
            <a:avLst/>
          </a:prstGeom>
          <a:solidFill>
            <a:srgbClr val="EF3124"/>
          </a:solidFill>
          <a:ln/>
        </p:spPr>
      </p:sp>
      <p:sp>
        <p:nvSpPr>
          <p:cNvPr id="3" name="Text 1"/>
          <p:cNvSpPr txBox="1"/>
          <p:nvPr/>
        </p:nvSpPr>
        <p:spPr>
          <a:xfrm rot="-300000">
            <a:off x="10134295" y="273406"/>
            <a:ext cx="1607058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</a:t>
            </a:r>
            <a:endParaRPr lang="en-US" sz="1235" dirty="0"/>
          </a:p>
        </p:txBody>
      </p:sp>
      <p:sp>
        <p:nvSpPr>
          <p:cNvPr id="4" name="Text 2"/>
          <p:cNvSpPr txBox="1"/>
          <p:nvPr/>
        </p:nvSpPr>
        <p:spPr>
          <a:xfrm rot="-300000">
            <a:off x="10134295" y="507949"/>
            <a:ext cx="1607058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БУДУЩЕЕ</a:t>
            </a:r>
            <a:endParaRPr lang="en-US" sz="1235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56032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Первые результаты:</a:t>
            </a:r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на h = 3/5/10 есть кандидаты с lift ≥ 1,3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3246120" cy="310896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" y="1207008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ЛУЧШИЕ ПО ГОРИЗОНТАМ</a:t>
            </a:r>
            <a:endParaRPr lang="en-US" sz="11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9344"/>
          <a:ext cx="11274552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3840480"/>
                <a:gridCol w="1005840"/>
                <a:gridCol w="914400"/>
                <a:gridCol w="1143000"/>
                <a:gridCol w="1143000"/>
                <a:gridCol w="11430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Горизонт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Коридор и модель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Сигналы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Lift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Сигн./нед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Same-week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Худший год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дня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AMD · XGBoost + явные лаги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7F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дней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AMD · CatBoost + triple barrier + история с 2010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7F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дней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TJS · CatBoost + triple barrier + Brent lag 7d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7F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3246120"/>
            <a:ext cx="3593592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85800" y="3456432"/>
            <a:ext cx="2011680" cy="310896"/>
          </a:xfrm>
          <a:prstGeom prst="roundRect">
            <a:avLst>
              <a:gd name="adj" fmla="val 50000"/>
            </a:avLst>
          </a:prstGeom>
          <a:solidFill>
            <a:srgbClr val="C3F53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85800" y="345643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СРАБОТАЛО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391363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 + история + отказ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4251960"/>
            <a:ext cx="3154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Regret/triple-barrier, история с 2010, бустинг и право модели промолчать. Четыре из пяти коридоров дали raw lift ≥ 1,3 на h = 5/10.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279392" y="3246120"/>
            <a:ext cx="3593592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507992" y="34564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507992" y="34564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МАСШТАБ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4507992" y="391363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13 379 вариантов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507992" y="4251960"/>
            <a:ext cx="3154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 крупных проверок, пять коридоров, 25 итоговых таблиц. Новости сознательно не использовались.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8110728" y="3246120"/>
            <a:ext cx="3621024" cy="1874520"/>
          </a:xfrm>
          <a:prstGeom prst="roundRect">
            <a:avLst>
              <a:gd name="adj" fmla="val 6829"/>
            </a:avLst>
          </a:prstGeom>
          <a:solidFill>
            <a:srgbClr val="FDEAE8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339328" y="3456432"/>
            <a:ext cx="2240280" cy="310896"/>
          </a:xfrm>
          <a:prstGeom prst="roundRect">
            <a:avLst>
              <a:gd name="adj" fmla="val 50000"/>
            </a:avLst>
          </a:prstGeom>
          <a:solidFill>
            <a:srgbClr val="EF3124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339328" y="3456432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ВАЖНОЕ «НО»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8339328" y="391363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Это ещё не доказательство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39328" y="4251960"/>
            <a:ext cx="3154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Победителей выбрали после большого перебора на одной OOT-истории. Нужен один заранее замороженный тест на новых данных.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5349240"/>
            <a:ext cx="11274552" cy="1051560"/>
          </a:xfrm>
          <a:prstGeom prst="roundRect">
            <a:avLst>
              <a:gd name="adj" fmla="val 12174"/>
            </a:avLst>
          </a:prstGeom>
          <a:solidFill>
            <a:srgbClr val="FDEAE8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685800" y="55321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Цена ожидания тоже измерена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" y="585216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Заявка −1 % / 14 дней исполняется в 48 % стартов. Optimal-stopping proxy уменьшает средний regret на 15–35 %, но пока использует искусственный дедлайн.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BE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00000">
            <a:off x="10134295" y="256032"/>
            <a:ext cx="1607058" cy="538582"/>
          </a:xfrm>
          <a:prstGeom prst="rect">
            <a:avLst/>
          </a:prstGeom>
          <a:solidFill>
            <a:srgbClr val="EF3124"/>
          </a:solidFill>
          <a:ln/>
        </p:spPr>
      </p:sp>
      <p:sp>
        <p:nvSpPr>
          <p:cNvPr id="3" name="Text 1"/>
          <p:cNvSpPr txBox="1"/>
          <p:nvPr/>
        </p:nvSpPr>
        <p:spPr>
          <a:xfrm rot="-300000">
            <a:off x="10134295" y="273406"/>
            <a:ext cx="1607058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</a:t>
            </a:r>
            <a:endParaRPr lang="en-US" sz="1235" dirty="0"/>
          </a:p>
        </p:txBody>
      </p:sp>
      <p:sp>
        <p:nvSpPr>
          <p:cNvPr id="4" name="Text 2"/>
          <p:cNvSpPr txBox="1"/>
          <p:nvPr/>
        </p:nvSpPr>
        <p:spPr>
          <a:xfrm rot="-300000">
            <a:off x="10134295" y="507949"/>
            <a:ext cx="1607058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БУДУЩЕЕ</a:t>
            </a:r>
            <a:endParaRPr lang="en-US" sz="1235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56032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Главный вывод:</a:t>
            </a:r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сигнал найден, но продуктовый эффект ещё не доказан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5532120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85800" y="1444752"/>
            <a:ext cx="2880360" cy="310896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444752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ИССЛЕДОВАТЕЛЬСКИЙ РЕЗУЛЬТАТ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87452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7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1,36–1,45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606040"/>
            <a:ext cx="5074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lift лучших моделей при 1,02–1,06 сигнала в неделю. Это соответствует требованию по lift и частоте на просмотренной истории.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9632" y="1234440"/>
            <a:ext cx="5532120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28232" y="1444752"/>
            <a:ext cx="2880360" cy="310896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28232" y="1444752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СТРОГИЙ КОНТРОЛЬ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428232" y="187452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1,18–1,23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6428232" y="2606040"/>
            <a:ext cx="5074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lift против случайного дня той же недели. Худший год: 1,19–1,26. Запаса устойчивости до 1,3 пока нет.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520440"/>
            <a:ext cx="11274552" cy="1234440"/>
          </a:xfrm>
          <a:prstGeom prst="roundRect">
            <a:avLst>
              <a:gd name="adj" fmla="val 10370"/>
            </a:avLst>
          </a:prstGeom>
          <a:solidFill>
            <a:srgbClr val="FDEAE8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85800" y="37033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вывод изменился после первого отрицательного прогона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4041648"/>
            <a:ext cx="10817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Первые модели работали только на CNY/RUB и строгом локальном минимуме. Длинная история, пять коридоров, продуктовая regret-цель, triple barrier и selective prediction создали кандидатов нужной частоты. Отрицательный вывод остаётся верным только для первой постановки.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937760"/>
            <a:ext cx="11274552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85800" y="5120640"/>
            <a:ext cx="3291840" cy="310896"/>
          </a:xfrm>
          <a:prstGeom prst="roundRect">
            <a:avLst>
              <a:gd name="adj" fmla="val 50000"/>
            </a:avLst>
          </a:prstGeom>
          <a:solidFill>
            <a:srgbClr val="C3F53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85800" y="512064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ПРОДУКТОВОЕ РЕШЕНИЕ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5559552"/>
            <a:ext cx="1081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отправлять пуши клиентам по exploratory-результату. Заморозить один пайплайн, проверить его на нетронутом периоде, пересчитать выгоду на реальном курсе приложения и только затем запускать ограниченный A/B-пилот.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BE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00000">
            <a:off x="10134295" y="256032"/>
            <a:ext cx="1607058" cy="538582"/>
          </a:xfrm>
          <a:prstGeom prst="rect">
            <a:avLst/>
          </a:prstGeom>
          <a:solidFill>
            <a:srgbClr val="EF3124"/>
          </a:solidFill>
          <a:ln/>
        </p:spPr>
      </p:sp>
      <p:sp>
        <p:nvSpPr>
          <p:cNvPr id="3" name="Text 1"/>
          <p:cNvSpPr txBox="1"/>
          <p:nvPr/>
        </p:nvSpPr>
        <p:spPr>
          <a:xfrm rot="-300000">
            <a:off x="10134295" y="273406"/>
            <a:ext cx="1607058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</a:t>
            </a:r>
            <a:endParaRPr lang="en-US" sz="1235" dirty="0"/>
          </a:p>
        </p:txBody>
      </p:sp>
      <p:sp>
        <p:nvSpPr>
          <p:cNvPr id="4" name="Text 2"/>
          <p:cNvSpPr txBox="1"/>
          <p:nvPr/>
        </p:nvSpPr>
        <p:spPr>
          <a:xfrm rot="-300000">
            <a:off x="10134295" y="507949"/>
            <a:ext cx="1607058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БУДУЩЕЕ</a:t>
            </a:r>
            <a:endParaRPr lang="en-US" sz="1235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56032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Риски</a:t>
            </a:r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и позиция по каждому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5532120" cy="2377440"/>
          </a:xfrm>
          <a:prstGeom prst="roundRect">
            <a:avLst>
              <a:gd name="adj" fmla="val 5385"/>
            </a:avLst>
          </a:prstGeom>
          <a:solidFill>
            <a:srgbClr val="FDEAE8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85800" y="1444752"/>
            <a:ext cx="3291840" cy="310896"/>
          </a:xfrm>
          <a:prstGeom prst="roundRect">
            <a:avLst>
              <a:gd name="adj" fmla="val 50000"/>
            </a:avLst>
          </a:prstGeom>
          <a:solidFill>
            <a:srgbClr val="EF312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444752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ГЛАВНЫЙ РИСК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883664"/>
            <a:ext cx="5074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Выбор победителя после 13 379 вариантов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212848"/>
            <a:ext cx="5074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Одна и та же OOT-история использовалась для сравнения моделей. Позиция: считать результат кандидатом, заранее заморозить признаки, модель и порог, а затем один раз проверить на новых датах или внешнем hold-out.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199632" y="1234440"/>
            <a:ext cx="5532120" cy="237744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28232" y="1444752"/>
            <a:ext cx="2743200" cy="310896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28232" y="144475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РАЗРЫВ С ПРОДУКТОМ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428232" y="1883664"/>
            <a:ext cx="5074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Публичный курс ≠ курс клиента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428232" y="2212848"/>
            <a:ext cx="5074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данных нет bid/ask приложения, спреда, комиссии и суммы перевода. Позиция: не обещать клиентскую выгоду до пересчёта на исполнимой цене; сначала подключить банковский поток в закрытом контуре.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794760"/>
            <a:ext cx="11274552" cy="260604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85800" y="3977640"/>
            <a:ext cx="3017520" cy="310896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5800" y="397764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ОГРАНИЧЕНИЯ РЕШЕНИЯ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4434840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Строгая устойчивость ниже цели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4690872"/>
            <a:ext cx="5257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Same-week lift 1,18–1,23, худший год 1,19–1,26: raw lift выше 1,3 не равен готовому доказательству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4434840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Нет клиентских логов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4690872"/>
            <a:ext cx="5257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Нельзя проверить causal-эффект пуша, конверсию, раздражение и оптимальную частоту без пилота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5394960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Часть источников недоступна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5650992"/>
            <a:ext cx="5257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Исторический order flow MOEX требует доступа; независимые ноги AMD/KGS/TJS заблокированы сетью/TLS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217920" y="5394960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Новости исключены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217920" y="5650992"/>
            <a:ext cx="5257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Сознательное ограничение текущего этапа: сначала проверены более дешёвые и воспроизводимые числовые факторы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BE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00000">
            <a:off x="10134295" y="256032"/>
            <a:ext cx="1607058" cy="538582"/>
          </a:xfrm>
          <a:prstGeom prst="rect">
            <a:avLst/>
          </a:prstGeom>
          <a:solidFill>
            <a:srgbClr val="EF3124"/>
          </a:solidFill>
          <a:ln/>
        </p:spPr>
      </p:sp>
      <p:sp>
        <p:nvSpPr>
          <p:cNvPr id="3" name="Text 1"/>
          <p:cNvSpPr txBox="1"/>
          <p:nvPr/>
        </p:nvSpPr>
        <p:spPr>
          <a:xfrm rot="-300000">
            <a:off x="10134295" y="273406"/>
            <a:ext cx="1607058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</a:t>
            </a:r>
            <a:endParaRPr lang="en-US" sz="1235" dirty="0"/>
          </a:p>
        </p:txBody>
      </p:sp>
      <p:sp>
        <p:nvSpPr>
          <p:cNvPr id="4" name="Text 2"/>
          <p:cNvSpPr txBox="1"/>
          <p:nvPr/>
        </p:nvSpPr>
        <p:spPr>
          <a:xfrm rot="-300000">
            <a:off x="10134295" y="507949"/>
            <a:ext cx="1607058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БУДУЩЕЕ</a:t>
            </a:r>
            <a:endParaRPr lang="en-US" sz="1235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56032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 работ</a:t>
            </a:r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до финальной защиты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11274552" cy="5166360"/>
          </a:xfrm>
          <a:prstGeom prst="roundRect">
            <a:avLst>
              <a:gd name="adj" fmla="val 24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85800" y="1517904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EF312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43000" y="149961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Заморозить один пайплайн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1499616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852160" y="1499616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Цель, признаки, модель, порог и критерии успеха фиксируются до следующего результата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85800" y="2125980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EF31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5800" y="21259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210769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Новый честный hold-out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26280" y="210769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852160" y="210769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Один запуск на новых датах или внешней выборке без повторного выбора победителя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85800" y="2734056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EF31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5800" y="27340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143000" y="271576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Курс приложения и экономика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526280" y="271576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+ банк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5852160" y="2715768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Bid/ask, спред, комиссия, сумма; выгода и regret на реально исполнимой цене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85800" y="3342132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EF312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3421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143000" y="332384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Закрыть пробелы в данных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4526280" y="3323844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5852160" y="3323844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flow MOEX и независимые ноги AMD/KGS/TJS — если кейсодатель даст доступ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85800" y="3950208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EF31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85800" y="39502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143000" y="393192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Горизонты h = 1 и 20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4526280" y="39319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852160" y="3931920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Дополнить итоговую матрицу; h = 3/5/10 уже закрыты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85800" y="4558284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EF312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85800" y="45582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143000" y="453999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Тексты и защита клиента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4526280" y="4539996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Продакт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5852160" y="4539996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Сценарий → объяснение сигнала; запрещённые обещания и контроль частоты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85800" y="5166360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EF312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85800" y="5166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1143000" y="514807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Дизайн ограниченного A/B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4526280" y="514807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Продакт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5852160" y="514807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Конверсия, выгода, отключение пушей, длительность и минимальный размер выборки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85800" y="5774436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EF3124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85800" y="57744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143000" y="575614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Финальный пакет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4526280" y="575614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5852160" y="5756148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Демо, инструкция запуска, ограничения, презентация и воспроизводимые таблицы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BE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00000">
            <a:off x="10134295" y="256032"/>
            <a:ext cx="1607058" cy="538582"/>
          </a:xfrm>
          <a:prstGeom prst="rect">
            <a:avLst/>
          </a:prstGeom>
          <a:solidFill>
            <a:srgbClr val="EF3124"/>
          </a:solidFill>
          <a:ln/>
        </p:spPr>
      </p:sp>
      <p:sp>
        <p:nvSpPr>
          <p:cNvPr id="3" name="Text 1"/>
          <p:cNvSpPr txBox="1"/>
          <p:nvPr/>
        </p:nvSpPr>
        <p:spPr>
          <a:xfrm rot="-300000">
            <a:off x="10134295" y="273406"/>
            <a:ext cx="1607058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</a:t>
            </a:r>
            <a:endParaRPr lang="en-US" sz="1235" dirty="0"/>
          </a:p>
        </p:txBody>
      </p:sp>
      <p:sp>
        <p:nvSpPr>
          <p:cNvPr id="4" name="Text 2"/>
          <p:cNvSpPr txBox="1"/>
          <p:nvPr/>
        </p:nvSpPr>
        <p:spPr>
          <a:xfrm rot="-300000">
            <a:off x="10134295" y="507949"/>
            <a:ext cx="1607058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БУДУЩЕЕ</a:t>
            </a:r>
            <a:endParaRPr lang="en-US" sz="1235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56032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</a:t>
            </a:r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и распределение задач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611880" cy="5166360"/>
          </a:xfrm>
          <a:prstGeom prst="roundRect">
            <a:avLst>
              <a:gd name="adj" fmla="val 35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85800" y="144475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Немкин Кирилл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85800" y="1783080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C3F53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85800" y="1783080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PRODUCT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212848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Постановка и дерево гипотез, работа с кейсодателем, обзор смежных отраслей, продуктовые ограничения для ML, документация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127248"/>
            <a:ext cx="3154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Ключевое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401568"/>
            <a:ext cx="31546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Замер премиссы кейса: 9,40 % и 2,79 % воспроизведены до второго знака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Разложение дисперсии коридоров — вскрыло, что вывод «один актив» верен для трёх из пяти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 базовых частот по горизонтам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Отказ от механик с оплатой удержания цены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5800" y="5486400"/>
            <a:ext cx="3154680" cy="713232"/>
          </a:xfrm>
          <a:prstGeom prst="roundRect">
            <a:avLst>
              <a:gd name="adj" fmla="val 12821"/>
            </a:avLst>
          </a:prstGeom>
          <a:solidFill>
            <a:srgbClr val="EBEBE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557784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Полная занятость. Сейчас: тексты пушей, план пилота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288536" y="1234440"/>
            <a:ext cx="3611880" cy="5166360"/>
          </a:xfrm>
          <a:prstGeom prst="roundRect">
            <a:avLst>
              <a:gd name="adj" fmla="val 35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517136" y="144475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Сырых Ольга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517136" y="1783080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C3F53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17136" y="1783080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 И ML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517136" y="2212848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Каркас репозитория, загрузка и кэширование данных, воспроизводимый ML-конвейер и расширенный эксперимент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517136" y="3127248"/>
            <a:ext cx="3154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Ключевое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4517136" y="3401568"/>
            <a:ext cx="31546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Панель пяти коридоров и автоматическая разметка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 крупных проверок, 25 таблиц и 13 379 вариантов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Итоговые модели для h = 3/5/10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signals_as_of(T), защита от утечки и 101 тест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17136" y="5486400"/>
            <a:ext cx="3154680" cy="713232"/>
          </a:xfrm>
          <a:prstGeom prst="roundRect">
            <a:avLst>
              <a:gd name="adj" fmla="val 12821"/>
            </a:avLst>
          </a:prstGeom>
          <a:solidFill>
            <a:srgbClr val="EBEBE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654296" y="557784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Полная занятость. Сейчас: заморозка кандидата, hold-out и финальный отчёт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119872" y="1234440"/>
            <a:ext cx="3611880" cy="5166360"/>
          </a:xfrm>
          <a:prstGeom prst="roundRect">
            <a:avLst>
              <a:gd name="adj" fmla="val 35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348472" y="144475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Бикинеев Амир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348472" y="1783080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C3F53C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348472" y="1783080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8348472" y="2212848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Выбор класса моделей с приоритетом интерпретируемости, метрики качества сигнала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8348472" y="3127248"/>
            <a:ext cx="3154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Ключевое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348472" y="3401568"/>
            <a:ext cx="31546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Regret-бенчмарк вместо строгой метки минимума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Dual-regret политика как основная гипотеза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Matched-random baseline — забраковал лучшую модель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Исправление переноса порога между OOF и refit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348472" y="5486400"/>
            <a:ext cx="3154680" cy="713232"/>
          </a:xfrm>
          <a:prstGeom prst="roundRect">
            <a:avLst>
              <a:gd name="adj" fmla="val 12821"/>
            </a:avLst>
          </a:prstGeom>
          <a:solidFill>
            <a:srgbClr val="EBEBEB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485632" y="557784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Полная занятость. Сейчас: проверка устойчивости и финальный выбор кандидата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6C2B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00000">
            <a:off x="502920" y="365760"/>
            <a:ext cx="1945386" cy="651967"/>
          </a:xfrm>
          <a:prstGeom prst="rect">
            <a:avLst/>
          </a:prstGeom>
          <a:solidFill>
            <a:srgbClr val="EF3124"/>
          </a:solidFill>
          <a:ln/>
        </p:spPr>
      </p:sp>
      <p:sp>
        <p:nvSpPr>
          <p:cNvPr id="3" name="Text 1"/>
          <p:cNvSpPr txBox="1"/>
          <p:nvPr/>
        </p:nvSpPr>
        <p:spPr>
          <a:xfrm rot="-300000">
            <a:off x="502920" y="386791"/>
            <a:ext cx="194538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</a:t>
            </a:r>
            <a:endParaRPr lang="en-US" sz="1495" dirty="0"/>
          </a:p>
        </p:txBody>
      </p:sp>
      <p:sp>
        <p:nvSpPr>
          <p:cNvPr id="4" name="Text 2"/>
          <p:cNvSpPr txBox="1"/>
          <p:nvPr/>
        </p:nvSpPr>
        <p:spPr>
          <a:xfrm rot="-300000">
            <a:off x="502920" y="670712"/>
            <a:ext cx="194538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БУДУЩЕЕ</a:t>
            </a:r>
            <a:endParaRPr lang="en-US" sz="1495" dirty="0"/>
          </a:p>
        </p:txBody>
      </p:sp>
      <p:sp>
        <p:nvSpPr>
          <p:cNvPr id="5" name="Shape 3"/>
          <p:cNvSpPr/>
          <p:nvPr/>
        </p:nvSpPr>
        <p:spPr>
          <a:xfrm>
            <a:off x="10088575" y="384048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EF312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088575" y="38404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 Банк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291840"/>
            <a:ext cx="10424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Вопросы</a:t>
            </a:r>
            <a:endParaRPr lang="en-US" sz="46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521208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4D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github.com/ne-olya/fx-pulse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2026-09-04T03:22:08Z</dcterms:created>
  <dcterms:modified xsi:type="dcterms:W3CDTF">2026-09-04T03:22:08Z</dcterms:modified>
</cp:coreProperties>
</file>